
<file path=[Content_Types].xml><?xml version="1.0" encoding="utf-8"?>
<Types xmlns="http://schemas.openxmlformats.org/package/2006/content-types">
  <Default ContentType="image/jpeg" Extension="jpg"/>
  <Default ContentType="image/gif" Extension="gif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6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31" Type="http://schemas.openxmlformats.org/officeDocument/2006/relationships/slide" Target="slides/slide27.xml"/><Relationship Id="rId30" Type="http://schemas.openxmlformats.org/officeDocument/2006/relationships/slide" Target="slides/slide26.xml"/><Relationship Id="rId11" Type="http://schemas.openxmlformats.org/officeDocument/2006/relationships/slide" Target="slides/slide7.xml"/><Relationship Id="rId33" Type="http://schemas.openxmlformats.org/officeDocument/2006/relationships/slide" Target="slides/slide29.xml"/><Relationship Id="rId10" Type="http://schemas.openxmlformats.org/officeDocument/2006/relationships/slide" Target="slides/slide6.xml"/><Relationship Id="rId32" Type="http://schemas.openxmlformats.org/officeDocument/2006/relationships/slide" Target="slides/slide28.xml"/><Relationship Id="rId13" Type="http://schemas.openxmlformats.org/officeDocument/2006/relationships/slide" Target="slides/slide9.xml"/><Relationship Id="rId35" Type="http://schemas.openxmlformats.org/officeDocument/2006/relationships/slide" Target="slides/slide31.xml"/><Relationship Id="rId12" Type="http://schemas.openxmlformats.org/officeDocument/2006/relationships/slide" Target="slides/slide8.xml"/><Relationship Id="rId34" Type="http://schemas.openxmlformats.org/officeDocument/2006/relationships/slide" Target="slides/slide30.xml"/><Relationship Id="rId15" Type="http://schemas.openxmlformats.org/officeDocument/2006/relationships/slide" Target="slides/slide11.xml"/><Relationship Id="rId37" Type="http://schemas.openxmlformats.org/officeDocument/2006/relationships/slide" Target="slides/slide33.xml"/><Relationship Id="rId14" Type="http://schemas.openxmlformats.org/officeDocument/2006/relationships/slide" Target="slides/slide10.xml"/><Relationship Id="rId36" Type="http://schemas.openxmlformats.org/officeDocument/2006/relationships/slide" Target="slides/slide32.xml"/><Relationship Id="rId17" Type="http://schemas.openxmlformats.org/officeDocument/2006/relationships/slide" Target="slides/slide13.xml"/><Relationship Id="rId39" Type="http://schemas.openxmlformats.org/officeDocument/2006/relationships/slide" Target="slides/slide35.xml"/><Relationship Id="rId16" Type="http://schemas.openxmlformats.org/officeDocument/2006/relationships/slide" Target="slides/slide12.xml"/><Relationship Id="rId38" Type="http://schemas.openxmlformats.org/officeDocument/2006/relationships/slide" Target="slides/slide34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0" name="Google Shape;80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The purpose of this talk is to introduce the audience to your summer research project. Please practice for time, as you will have three minutes to complete your entire presentation.</a:t>
            </a:r>
            <a:endParaRPr/>
          </a:p>
        </p:txBody>
      </p:sp>
      <p:sp>
        <p:nvSpPr>
          <p:cNvPr id="81" name="Google Shape;81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Please use this slide to introduce yourself. </a:t>
            </a:r>
            <a:r>
              <a:rPr lang="en-US">
                <a:latin typeface="Arial"/>
                <a:ea typeface="Arial"/>
                <a:cs typeface="Arial"/>
                <a:sym typeface="Arial"/>
              </a:rPr>
              <a:t>Include a headshot and/or images of your school/hometown.</a:t>
            </a:r>
            <a:endParaRPr/>
          </a:p>
        </p:txBody>
      </p:sp>
      <p:sp>
        <p:nvSpPr>
          <p:cNvPr id="90" name="Google Shape;90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fae52a69b0_0_5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2" name="Google Shape;102;g3fae52a69b0_0_5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The purpose of this talk is to introduce the audience to your summer research project. Please practice for time, as you will have three minutes to complete your entire presentation.</a:t>
            </a:r>
            <a:endParaRPr/>
          </a:p>
        </p:txBody>
      </p:sp>
      <p:sp>
        <p:nvSpPr>
          <p:cNvPr id="103" name="Google Shape;103;g3fae52a69b0_0_55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Use this slide to introduce your research group as well as your research topic. </a:t>
            </a:r>
            <a:endParaRPr/>
          </a:p>
        </p:txBody>
      </p:sp>
      <p:sp>
        <p:nvSpPr>
          <p:cNvPr id="111" name="Google Shape;111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Here you can talk about the WHAT of your project. How are you solving the problem? Do you have a research hypothesis?</a:t>
            </a:r>
            <a:endParaRPr/>
          </a:p>
        </p:txBody>
      </p:sp>
      <p:sp>
        <p:nvSpPr>
          <p:cNvPr id="122" name="Google Shape;122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33" name="Google Shape;133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fae52a69b0_0_6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g3fae52a69b0_0_6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The purpose of this talk is to introduce the audience to your summer research project. Please practice for time, as you will have three minutes to complete your entire presentation.</a:t>
            </a:r>
            <a:endParaRPr/>
          </a:p>
        </p:txBody>
      </p:sp>
      <p:sp>
        <p:nvSpPr>
          <p:cNvPr id="145" name="Google Shape;145;g3fae52a69b0_0_63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f6b514a929_0_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53" name="Google Shape;153;g3f6b514a929_0_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fae52a69b0_0_1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64" name="Google Shape;164;g3fae52a69b0_0_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3fae52a69b0_0_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75" name="Google Shape;175;g3fae52a69b0_0_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3fae52a69b0_0_2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87" name="Google Shape;187;g3fae52a69b0_0_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3fae52a69b0_0_1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1" name="Google Shape;201;g3fae52a69b0_0_11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The purpose of this talk is to introduce the audience to your summer research project. Please practice for time, as you will have three minutes to complete your entire presentation.</a:t>
            </a:r>
            <a:endParaRPr/>
          </a:p>
        </p:txBody>
      </p:sp>
      <p:sp>
        <p:nvSpPr>
          <p:cNvPr id="202" name="Google Shape;202;g3fae52a69b0_0_11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3fae52a69b0_0_3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10" name="Google Shape;210;g3fae52a69b0_0_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3fae52a69b0_0_4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22" name="Google Shape;222;g3fae52a69b0_0_4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g3fae52a69b0_0_9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33" name="Google Shape;233;g3fae52a69b0_0_9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g3fae52a69b0_0_10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45" name="Google Shape;245;g3fae52a69b0_0_10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3fae52a69b0_0_19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7" name="Google Shape;257;g3fae52a69b0_0_19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The purpose of this talk is to introduce the audience to your summer research project. Please practice for time, as you will have three minutes to complete your entire presentation.</a:t>
            </a:r>
            <a:endParaRPr/>
          </a:p>
        </p:txBody>
      </p:sp>
      <p:sp>
        <p:nvSpPr>
          <p:cNvPr id="258" name="Google Shape;258;g3fae52a69b0_0_19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3fae52a69b0_0_12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66" name="Google Shape;266;g3fae52a69b0_0_1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g3fae52a69b0_0_13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77" name="Google Shape;277;g3fae52a69b0_0_1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3fae52a69b0_0_14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89" name="Google Shape;289;g3fae52a69b0_0_14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g3fae52a69b0_0_15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02" name="Google Shape;302;g3fae52a69b0_0_15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g3fae52a69b0_0_2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5" name="Google Shape;315;g3fae52a69b0_0_21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The purpose of this talk is to introduce the audience to your summer research project. Please practice for time, as you will have three minutes to complete your entire presentation.</a:t>
            </a:r>
            <a:endParaRPr/>
          </a:p>
        </p:txBody>
      </p:sp>
      <p:sp>
        <p:nvSpPr>
          <p:cNvPr id="316" name="Google Shape;316;g3fae52a69b0_0_217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g3fae52a69b0_0_16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24" name="Google Shape;324;g3fae52a69b0_0_16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3fae52a69b0_0_17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35" name="Google Shape;335;g3fae52a69b0_0_17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g3fae52a69b0_0_22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46" name="Google Shape;346;g3fae52a69b0_0_2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g3f770fbd465_0_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8" name="Google Shape;358;g3f770fbd465_0_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The purpose of this talk is to introduce the audience to your summer research project. Please practice for time, as you will have three minutes to complete your entire presentation.</a:t>
            </a:r>
            <a:endParaRPr/>
          </a:p>
        </p:txBody>
      </p:sp>
      <p:sp>
        <p:nvSpPr>
          <p:cNvPr id="359" name="Google Shape;359;g3f770fbd465_0_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5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g3fae52a69b0_0_23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67" name="Google Shape;367;g3fae52a69b0_0_2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7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g3fae52a69b0_0_24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79" name="Google Shape;379;g3fae52a69b0_0_24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9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g3fae52a69b0_0_28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91" name="Google Shape;391;g3fae52a69b0_0_28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3fae52a69b0_0_29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03" name="Google Shape;403;g3fae52a69b0_0_29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3fae52a69b0_0_30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15" name="Google Shape;415;g3fae52a69b0_0_30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5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g3fae52a69b0_0_31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27" name="Google Shape;427;g3fae52a69b0_0_3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7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g3f7534e9490_0_6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39" name="Google Shape;439;g3f7534e9490_0_6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The purpose of this talk is to introduce the audience to your summer research project. Please practice for time, as you will have three minutes to complete your entire presentation.</a:t>
            </a:r>
            <a:endParaRPr/>
          </a:p>
        </p:txBody>
      </p:sp>
      <p:sp>
        <p:nvSpPr>
          <p:cNvPr id="440" name="Google Shape;440;g3f7534e9490_0_6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6" name="Shape 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Google Shape;447;g3fae52a69b0_0_33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48" name="Google Shape;448;g3fae52a69b0_0_3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g3fae52a69b0_0_25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59" name="Google Shape;459;g3fae52a69b0_0_25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8" name="Shape 4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Google Shape;469;g3fae52a69b0_0_34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70" name="Google Shape;470;g3fae52a69b0_0_34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0" name="Shape 4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Google Shape;48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You can use this slide to thank you mentors and other collaborators. End the presentation by thanking the audience for their attention and ask if there are any questions.</a:t>
            </a:r>
            <a:endParaRPr/>
          </a:p>
        </p:txBody>
      </p:sp>
      <p:sp>
        <p:nvSpPr>
          <p:cNvPr id="482" name="Google Shape;48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/>
          <p:nvPr>
            <p:ph idx="10" type="dt"/>
          </p:nvPr>
        </p:nvSpPr>
        <p:spPr>
          <a:xfrm>
            <a:off x="838200" y="6356356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"/>
          <p:cNvSpPr txBox="1"/>
          <p:nvPr>
            <p:ph idx="11" type="ftr"/>
          </p:nvPr>
        </p:nvSpPr>
        <p:spPr>
          <a:xfrm>
            <a:off x="4038600" y="6356356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2" type="sldNum"/>
          </p:nvPr>
        </p:nvSpPr>
        <p:spPr>
          <a:xfrm>
            <a:off x="8610600" y="6356356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3"/>
          <p:cNvSpPr txBox="1"/>
          <p:nvPr>
            <p:ph type="title"/>
          </p:nvPr>
        </p:nvSpPr>
        <p:spPr>
          <a:xfrm>
            <a:off x="838200" y="36512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2" name="Google Shape;22;p3"/>
          <p:cNvSpPr txBox="1"/>
          <p:nvPr>
            <p:ph idx="10" type="dt"/>
          </p:nvPr>
        </p:nvSpPr>
        <p:spPr>
          <a:xfrm>
            <a:off x="838200" y="6356356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3"/>
          <p:cNvSpPr txBox="1"/>
          <p:nvPr>
            <p:ph idx="11" type="ftr"/>
          </p:nvPr>
        </p:nvSpPr>
        <p:spPr>
          <a:xfrm>
            <a:off x="4038600" y="6356356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3"/>
          <p:cNvSpPr txBox="1"/>
          <p:nvPr>
            <p:ph idx="12" type="sldNum"/>
          </p:nvPr>
        </p:nvSpPr>
        <p:spPr>
          <a:xfrm>
            <a:off x="8610600" y="6356356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4"/>
          <p:cNvSpPr txBox="1"/>
          <p:nvPr>
            <p:ph type="title"/>
          </p:nvPr>
        </p:nvSpPr>
        <p:spPr>
          <a:xfrm>
            <a:off x="831851" y="1709744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4"/>
          <p:cNvSpPr txBox="1"/>
          <p:nvPr>
            <p:ph idx="1" type="body"/>
          </p:nvPr>
        </p:nvSpPr>
        <p:spPr>
          <a:xfrm>
            <a:off x="831851" y="4589469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8" name="Google Shape;28;p4"/>
          <p:cNvSpPr txBox="1"/>
          <p:nvPr>
            <p:ph idx="10" type="dt"/>
          </p:nvPr>
        </p:nvSpPr>
        <p:spPr>
          <a:xfrm>
            <a:off x="838200" y="6356356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4"/>
          <p:cNvSpPr txBox="1"/>
          <p:nvPr>
            <p:ph idx="11" type="ftr"/>
          </p:nvPr>
        </p:nvSpPr>
        <p:spPr>
          <a:xfrm>
            <a:off x="4038600" y="6356356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610600" y="6356356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5"/>
          <p:cNvSpPr txBox="1"/>
          <p:nvPr>
            <p:ph type="title"/>
          </p:nvPr>
        </p:nvSpPr>
        <p:spPr>
          <a:xfrm>
            <a:off x="838200" y="36512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5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" name="Google Shape;34;p5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5"/>
          <p:cNvSpPr txBox="1"/>
          <p:nvPr>
            <p:ph idx="10" type="dt"/>
          </p:nvPr>
        </p:nvSpPr>
        <p:spPr>
          <a:xfrm>
            <a:off x="838200" y="6356356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1" type="ftr"/>
          </p:nvPr>
        </p:nvSpPr>
        <p:spPr>
          <a:xfrm>
            <a:off x="4038600" y="6356356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2" type="sldNum"/>
          </p:nvPr>
        </p:nvSpPr>
        <p:spPr>
          <a:xfrm>
            <a:off x="8610600" y="6356356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/>
          <p:nvPr>
            <p:ph type="title"/>
          </p:nvPr>
        </p:nvSpPr>
        <p:spPr>
          <a:xfrm>
            <a:off x="839788" y="36512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6"/>
          <p:cNvSpPr txBox="1"/>
          <p:nvPr>
            <p:ph idx="1" type="body"/>
          </p:nvPr>
        </p:nvSpPr>
        <p:spPr>
          <a:xfrm>
            <a:off x="839789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1" name="Google Shape;41;p6"/>
          <p:cNvSpPr txBox="1"/>
          <p:nvPr>
            <p:ph idx="2" type="body"/>
          </p:nvPr>
        </p:nvSpPr>
        <p:spPr>
          <a:xfrm>
            <a:off x="839789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" name="Google Shape;42;p6"/>
          <p:cNvSpPr txBox="1"/>
          <p:nvPr>
            <p:ph idx="3" type="body"/>
          </p:nvPr>
        </p:nvSpPr>
        <p:spPr>
          <a:xfrm>
            <a:off x="6172203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6"/>
          <p:cNvSpPr txBox="1"/>
          <p:nvPr>
            <p:ph idx="4" type="body"/>
          </p:nvPr>
        </p:nvSpPr>
        <p:spPr>
          <a:xfrm>
            <a:off x="6172203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0" type="dt"/>
          </p:nvPr>
        </p:nvSpPr>
        <p:spPr>
          <a:xfrm>
            <a:off x="838200" y="6356356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1" type="ftr"/>
          </p:nvPr>
        </p:nvSpPr>
        <p:spPr>
          <a:xfrm>
            <a:off x="4038600" y="6356356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2" type="sldNum"/>
          </p:nvPr>
        </p:nvSpPr>
        <p:spPr>
          <a:xfrm>
            <a:off x="8610600" y="6356356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7"/>
          <p:cNvSpPr txBox="1"/>
          <p:nvPr>
            <p:ph type="title"/>
          </p:nvPr>
        </p:nvSpPr>
        <p:spPr>
          <a:xfrm>
            <a:off x="838200" y="36512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7"/>
          <p:cNvSpPr txBox="1"/>
          <p:nvPr>
            <p:ph idx="10" type="dt"/>
          </p:nvPr>
        </p:nvSpPr>
        <p:spPr>
          <a:xfrm>
            <a:off x="838200" y="6356356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7"/>
          <p:cNvSpPr txBox="1"/>
          <p:nvPr>
            <p:ph idx="11" type="ftr"/>
          </p:nvPr>
        </p:nvSpPr>
        <p:spPr>
          <a:xfrm>
            <a:off x="4038600" y="6356356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2" type="sldNum"/>
          </p:nvPr>
        </p:nvSpPr>
        <p:spPr>
          <a:xfrm>
            <a:off x="8610600" y="6356356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8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8"/>
          <p:cNvSpPr txBox="1"/>
          <p:nvPr>
            <p:ph idx="1" type="body"/>
          </p:nvPr>
        </p:nvSpPr>
        <p:spPr>
          <a:xfrm>
            <a:off x="5183188" y="987431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5" name="Google Shape;55;p8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56" name="Google Shape;56;p8"/>
          <p:cNvSpPr txBox="1"/>
          <p:nvPr>
            <p:ph idx="10" type="dt"/>
          </p:nvPr>
        </p:nvSpPr>
        <p:spPr>
          <a:xfrm>
            <a:off x="838200" y="6356356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8"/>
          <p:cNvSpPr txBox="1"/>
          <p:nvPr>
            <p:ph idx="11" type="ftr"/>
          </p:nvPr>
        </p:nvSpPr>
        <p:spPr>
          <a:xfrm>
            <a:off x="4038600" y="6356356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8"/>
          <p:cNvSpPr txBox="1"/>
          <p:nvPr>
            <p:ph idx="12" type="sldNum"/>
          </p:nvPr>
        </p:nvSpPr>
        <p:spPr>
          <a:xfrm>
            <a:off x="8610600" y="6356356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9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9"/>
          <p:cNvSpPr/>
          <p:nvPr>
            <p:ph idx="2" type="pic"/>
          </p:nvPr>
        </p:nvSpPr>
        <p:spPr>
          <a:xfrm>
            <a:off x="5183188" y="987431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2" name="Google Shape;62;p9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3" name="Google Shape;63;p9"/>
          <p:cNvSpPr txBox="1"/>
          <p:nvPr>
            <p:ph idx="10" type="dt"/>
          </p:nvPr>
        </p:nvSpPr>
        <p:spPr>
          <a:xfrm>
            <a:off x="838200" y="6356356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9"/>
          <p:cNvSpPr txBox="1"/>
          <p:nvPr>
            <p:ph idx="11" type="ftr"/>
          </p:nvPr>
        </p:nvSpPr>
        <p:spPr>
          <a:xfrm>
            <a:off x="4038600" y="6356356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2" type="sldNum"/>
          </p:nvPr>
        </p:nvSpPr>
        <p:spPr>
          <a:xfrm>
            <a:off x="8610600" y="6356356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0"/>
          <p:cNvSpPr txBox="1"/>
          <p:nvPr>
            <p:ph type="title"/>
          </p:nvPr>
        </p:nvSpPr>
        <p:spPr>
          <a:xfrm>
            <a:off x="838200" y="36512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10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9" name="Google Shape;69;p10"/>
          <p:cNvSpPr txBox="1"/>
          <p:nvPr>
            <p:ph idx="10" type="dt"/>
          </p:nvPr>
        </p:nvSpPr>
        <p:spPr>
          <a:xfrm>
            <a:off x="838200" y="6356356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0"/>
          <p:cNvSpPr txBox="1"/>
          <p:nvPr>
            <p:ph idx="11" type="ftr"/>
          </p:nvPr>
        </p:nvSpPr>
        <p:spPr>
          <a:xfrm>
            <a:off x="4038600" y="6356356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10"/>
          <p:cNvSpPr txBox="1"/>
          <p:nvPr>
            <p:ph idx="12" type="sldNum"/>
          </p:nvPr>
        </p:nvSpPr>
        <p:spPr>
          <a:xfrm>
            <a:off x="8610600" y="6356356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 txBox="1"/>
          <p:nvPr>
            <p:ph type="title"/>
          </p:nvPr>
        </p:nvSpPr>
        <p:spPr>
          <a:xfrm rot="5400000">
            <a:off x="7133432" y="1956597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1"/>
          <p:cNvSpPr txBox="1"/>
          <p:nvPr>
            <p:ph idx="1" type="body"/>
          </p:nvPr>
        </p:nvSpPr>
        <p:spPr>
          <a:xfrm rot="5400000">
            <a:off x="1799432" y="-596103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11"/>
          <p:cNvSpPr txBox="1"/>
          <p:nvPr>
            <p:ph idx="10" type="dt"/>
          </p:nvPr>
        </p:nvSpPr>
        <p:spPr>
          <a:xfrm>
            <a:off x="838200" y="6356356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1"/>
          <p:cNvSpPr txBox="1"/>
          <p:nvPr>
            <p:ph idx="11" type="ftr"/>
          </p:nvPr>
        </p:nvSpPr>
        <p:spPr>
          <a:xfrm>
            <a:off x="4038600" y="6356356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11"/>
          <p:cNvSpPr txBox="1"/>
          <p:nvPr>
            <p:ph idx="12" type="sldNum"/>
          </p:nvPr>
        </p:nvSpPr>
        <p:spPr>
          <a:xfrm>
            <a:off x="8610600" y="6356356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838200" y="36512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838200" y="6356356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038600" y="6356356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8610600" y="6356356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jpg"/><Relationship Id="rId4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8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jpg"/><Relationship Id="rId4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jpg"/><Relationship Id="rId4" Type="http://schemas.openxmlformats.org/officeDocument/2006/relationships/image" Target="../media/image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jpg"/><Relationship Id="rId4" Type="http://schemas.openxmlformats.org/officeDocument/2006/relationships/image" Target="../media/image1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Relationship Id="rId4" Type="http://schemas.openxmlformats.org/officeDocument/2006/relationships/image" Target="../media/image1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.jpg"/><Relationship Id="rId4" Type="http://schemas.openxmlformats.org/officeDocument/2006/relationships/image" Target="../media/image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3.png"/><Relationship Id="rId4" Type="http://schemas.openxmlformats.org/officeDocument/2006/relationships/image" Target="../media/image11.png"/><Relationship Id="rId5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2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.jpg"/><Relationship Id="rId4" Type="http://schemas.openxmlformats.org/officeDocument/2006/relationships/image" Target="../media/image1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3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3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.jpg"/><Relationship Id="rId4" Type="http://schemas.openxmlformats.org/officeDocument/2006/relationships/image" Target="../media/image1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3.png"/><Relationship Id="rId4" Type="http://schemas.openxmlformats.org/officeDocument/2006/relationships/image" Target="../media/image1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23.gif"/><Relationship Id="rId4" Type="http://schemas.openxmlformats.org/officeDocument/2006/relationships/image" Target="../media/image3.png"/><Relationship Id="rId5" Type="http://schemas.openxmlformats.org/officeDocument/2006/relationships/image" Target="../media/image1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6.gif"/><Relationship Id="rId4" Type="http://schemas.openxmlformats.org/officeDocument/2006/relationships/image" Target="../media/image3.png"/><Relationship Id="rId5" Type="http://schemas.openxmlformats.org/officeDocument/2006/relationships/image" Target="../media/image24.pn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20.gif"/><Relationship Id="rId4" Type="http://schemas.openxmlformats.org/officeDocument/2006/relationships/image" Target="../media/image3.png"/><Relationship Id="rId5" Type="http://schemas.openxmlformats.org/officeDocument/2006/relationships/image" Target="../media/image18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3.png"/><Relationship Id="rId4" Type="http://schemas.openxmlformats.org/officeDocument/2006/relationships/image" Target="../media/image19.png"/><Relationship Id="rId5" Type="http://schemas.openxmlformats.org/officeDocument/2006/relationships/image" Target="../media/image12.gif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3.png"/><Relationship Id="rId4" Type="http://schemas.openxmlformats.org/officeDocument/2006/relationships/image" Target="../media/image14.png"/><Relationship Id="rId5" Type="http://schemas.openxmlformats.org/officeDocument/2006/relationships/image" Target="../media/image22.gif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2.jpg"/><Relationship Id="rId4" Type="http://schemas.openxmlformats.org/officeDocument/2006/relationships/image" Target="../media/image1.png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3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3.png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3.png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3.png"/><Relationship Id="rId4" Type="http://schemas.openxmlformats.org/officeDocument/2006/relationships/hyperlink" Target="https://huggingface.co/meta-llama/Llama-3.1-8B-Instruct" TargetMode="External"/><Relationship Id="rId11" Type="http://schemas.openxmlformats.org/officeDocument/2006/relationships/hyperlink" Target="https://access-ci.org" TargetMode="External"/><Relationship Id="rId10" Type="http://schemas.openxmlformats.org/officeDocument/2006/relationships/hyperlink" Target="https://access-ci.org" TargetMode="External"/><Relationship Id="rId9" Type="http://schemas.openxmlformats.org/officeDocument/2006/relationships/hyperlink" Target="https://delta.ncsa.illinois.edu" TargetMode="External"/><Relationship Id="rId5" Type="http://schemas.openxmlformats.org/officeDocument/2006/relationships/hyperlink" Target="https://huggingface.co/meta-llama/Llama-3.1-8B-Instruct" TargetMode="External"/><Relationship Id="rId6" Type="http://schemas.openxmlformats.org/officeDocument/2006/relationships/hyperlink" Target="https://huggingface.co/docs/trl/sft_trainer" TargetMode="External"/><Relationship Id="rId7" Type="http://schemas.openxmlformats.org/officeDocument/2006/relationships/hyperlink" Target="https://huggingface.co/docs/trl/sft_trainer" TargetMode="External"/><Relationship Id="rId8" Type="http://schemas.openxmlformats.org/officeDocument/2006/relationships/hyperlink" Target="https://delta.ncsa.illinois.edu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2"/>
          <p:cNvSpPr/>
          <p:nvPr/>
        </p:nvSpPr>
        <p:spPr>
          <a:xfrm flipH="1" rot="10800000">
            <a:off x="-1" y="-4057"/>
            <a:ext cx="12192000" cy="686610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building, street&#10;&#10;Description automatically generated" id="84" name="Google Shape;84;p12"/>
          <p:cNvPicPr preferRelativeResize="0"/>
          <p:nvPr/>
        </p:nvPicPr>
        <p:blipFill rotWithShape="1">
          <a:blip r:embed="rId3">
            <a:alphaModFix amt="25000"/>
          </a:blip>
          <a:srcRect b="0" l="0" r="0" t="0"/>
          <a:stretch/>
        </p:blipFill>
        <p:spPr>
          <a:xfrm>
            <a:off x="-2" y="-6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2"/>
          <p:cNvSpPr txBox="1"/>
          <p:nvPr/>
        </p:nvSpPr>
        <p:spPr>
          <a:xfrm>
            <a:off x="1133991" y="1609771"/>
            <a:ext cx="9924000" cy="395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4500">
                <a:solidFill>
                  <a:schemeClr val="lt1"/>
                </a:solidFill>
              </a:rPr>
              <a:t>Representing Adaptive Spacecraft Guidance Policies with Large Language Models in the Earth–Moon CRTBP</a:t>
            </a:r>
            <a:endParaRPr b="0" i="0" sz="4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lt1"/>
                </a:solidFill>
              </a:rPr>
              <a:t>Researcher: Daniel Amaya </a:t>
            </a: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(</a:t>
            </a:r>
            <a:r>
              <a:rPr lang="en-US" sz="2000">
                <a:solidFill>
                  <a:schemeClr val="lt1"/>
                </a:solidFill>
              </a:rPr>
              <a:t>MS</a:t>
            </a: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)</a:t>
            </a:r>
            <a:br>
              <a:rPr lang="en-US" sz="2000">
                <a:solidFill>
                  <a:schemeClr val="lt1"/>
                </a:solidFill>
              </a:rPr>
            </a:br>
            <a:r>
              <a:rPr lang="en-US" sz="2000">
                <a:solidFill>
                  <a:schemeClr val="lt1"/>
                </a:solidFill>
              </a:rPr>
              <a:t>A</a:t>
            </a: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dvisors: </a:t>
            </a:r>
            <a:r>
              <a:rPr lang="en-US" sz="2000">
                <a:solidFill>
                  <a:schemeClr val="lt1"/>
                </a:solidFill>
              </a:rPr>
              <a:t>Hiroyasu </a:t>
            </a:r>
            <a:r>
              <a:rPr lang="en-US" sz="2000">
                <a:solidFill>
                  <a:schemeClr val="lt1"/>
                </a:solidFill>
              </a:rPr>
              <a:t>Tsukamoto</a:t>
            </a:r>
            <a:r>
              <a:rPr lang="en-US" sz="2000">
                <a:solidFill>
                  <a:schemeClr val="lt1"/>
                </a:solidFill>
              </a:rPr>
              <a:t> </a:t>
            </a: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(</a:t>
            </a:r>
            <a:r>
              <a:rPr lang="en-US" sz="2000">
                <a:solidFill>
                  <a:schemeClr val="lt1"/>
                </a:solidFill>
              </a:rPr>
              <a:t>PhD</a:t>
            </a: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), </a:t>
            </a:r>
            <a:r>
              <a:rPr lang="en-US" sz="2000">
                <a:solidFill>
                  <a:schemeClr val="lt1"/>
                </a:solidFill>
              </a:rPr>
              <a:t>Siyi Xu (PhD)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picture containing drawing&#10;&#10;Description automatically generated" id="86" name="Google Shape;86;p1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641012" y="391371"/>
            <a:ext cx="2909984" cy="754083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2"/>
          <p:cNvSpPr txBox="1"/>
          <p:nvPr/>
        </p:nvSpPr>
        <p:spPr>
          <a:xfrm>
            <a:off x="3922061" y="5743605"/>
            <a:ext cx="43479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lt1"/>
                </a:solidFill>
              </a:rPr>
              <a:t>8/26/2026</a:t>
            </a:r>
            <a:endParaRPr b="0" i="0" sz="2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idx="1" type="body"/>
          </p:nvPr>
        </p:nvSpPr>
        <p:spPr>
          <a:xfrm>
            <a:off x="4212683" y="1171564"/>
            <a:ext cx="3238200" cy="4821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US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Daniel Amaya</a:t>
            </a:r>
            <a:endParaRPr b="1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lang="en-US" sz="2000">
                <a:latin typeface="Arial"/>
                <a:ea typeface="Arial"/>
                <a:cs typeface="Arial"/>
                <a:sym typeface="Arial"/>
              </a:rPr>
              <a:t>N-ACXIS</a:t>
            </a:r>
            <a:endParaRPr sz="20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lang="en-US" sz="2000">
                <a:latin typeface="Arial"/>
                <a:ea typeface="Arial"/>
                <a:cs typeface="Arial"/>
                <a:sym typeface="Arial"/>
              </a:rPr>
              <a:t>UIUC 26</a:t>
            </a:r>
            <a:endParaRPr sz="20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p13"/>
          <p:cNvSpPr/>
          <p:nvPr/>
        </p:nvSpPr>
        <p:spPr>
          <a:xfrm flipH="1" rot="10800000">
            <a:off x="0" y="6437015"/>
            <a:ext cx="12192000" cy="420987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3"/>
          <p:cNvSpPr txBox="1"/>
          <p:nvPr/>
        </p:nvSpPr>
        <p:spPr>
          <a:xfrm>
            <a:off x="376812" y="6524382"/>
            <a:ext cx="79914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lt1"/>
                </a:solidFill>
              </a:rPr>
              <a:t>ME 597 Independent Study</a:t>
            </a:r>
            <a:endParaRPr/>
          </a:p>
        </p:txBody>
      </p:sp>
      <p:sp>
        <p:nvSpPr>
          <p:cNvPr id="95" name="Google Shape;95;p13"/>
          <p:cNvSpPr txBox="1"/>
          <p:nvPr/>
        </p:nvSpPr>
        <p:spPr>
          <a:xfrm>
            <a:off x="9335603" y="6524381"/>
            <a:ext cx="2473415" cy="24618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96" name="Google Shape;96;p13"/>
          <p:cNvSpPr/>
          <p:nvPr/>
        </p:nvSpPr>
        <p:spPr>
          <a:xfrm flipH="1" rot="10800000">
            <a:off x="0" y="3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close up of a logo&#10;&#10;Description automatically generated" id="97" name="Google Shape;97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554209" y="228018"/>
            <a:ext cx="277907" cy="40142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3"/>
          <p:cNvSpPr txBox="1"/>
          <p:nvPr/>
        </p:nvSpPr>
        <p:spPr>
          <a:xfrm>
            <a:off x="376809" y="204053"/>
            <a:ext cx="10910027" cy="5231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Introduction</a:t>
            </a:r>
            <a:endParaRPr/>
          </a:p>
        </p:txBody>
      </p:sp>
      <p:pic>
        <p:nvPicPr>
          <p:cNvPr id="99" name="Google Shape;99;p13"/>
          <p:cNvPicPr preferRelativeResize="0"/>
          <p:nvPr/>
        </p:nvPicPr>
        <p:blipFill rotWithShape="1">
          <a:blip r:embed="rId4">
            <a:alphaModFix/>
          </a:blip>
          <a:srcRect b="7986" l="0" r="0" t="15220"/>
          <a:stretch/>
        </p:blipFill>
        <p:spPr>
          <a:xfrm>
            <a:off x="4713525" y="1981623"/>
            <a:ext cx="2236500" cy="2209500"/>
          </a:xfrm>
          <a:prstGeom prst="ellipse">
            <a:avLst/>
          </a:prstGeom>
          <a:noFill/>
          <a:ln cap="flat" cmpd="sng" w="76200">
            <a:solidFill>
              <a:srgbClr val="434343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4"/>
          <p:cNvSpPr/>
          <p:nvPr/>
        </p:nvSpPr>
        <p:spPr>
          <a:xfrm flipH="1" rot="10800000">
            <a:off x="-1" y="64"/>
            <a:ext cx="12192000" cy="686610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building, street&#10;&#10;Description automatically generated" id="106" name="Google Shape;106;p14"/>
          <p:cNvPicPr preferRelativeResize="0"/>
          <p:nvPr/>
        </p:nvPicPr>
        <p:blipFill rotWithShape="1">
          <a:blip r:embed="rId3">
            <a:alphaModFix amt="25000"/>
          </a:blip>
          <a:srcRect b="0" l="0" r="0" t="0"/>
          <a:stretch/>
        </p:blipFill>
        <p:spPr>
          <a:xfrm>
            <a:off x="-2" y="8165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14"/>
          <p:cNvSpPr txBox="1"/>
          <p:nvPr/>
        </p:nvSpPr>
        <p:spPr>
          <a:xfrm>
            <a:off x="1133991" y="2532942"/>
            <a:ext cx="9924000" cy="113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4500">
                <a:solidFill>
                  <a:schemeClr val="lt1"/>
                </a:solidFill>
              </a:rPr>
              <a:t>Proposed</a:t>
            </a:r>
            <a:r>
              <a:rPr b="1" lang="en-US" sz="4500">
                <a:solidFill>
                  <a:schemeClr val="lt1"/>
                </a:solidFill>
              </a:rPr>
              <a:t> Work</a:t>
            </a:r>
            <a:endParaRPr b="0" i="0" sz="4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picture containing drawing&#10;&#10;Description automatically generated" id="108" name="Google Shape;108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081137" y="5864575"/>
            <a:ext cx="2909984" cy="75408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5"/>
          <p:cNvSpPr/>
          <p:nvPr/>
        </p:nvSpPr>
        <p:spPr>
          <a:xfrm flipH="1" rot="10800000">
            <a:off x="0" y="6437015"/>
            <a:ext cx="12192000" cy="420987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15"/>
          <p:cNvSpPr txBox="1"/>
          <p:nvPr/>
        </p:nvSpPr>
        <p:spPr>
          <a:xfrm>
            <a:off x="376812" y="6524382"/>
            <a:ext cx="79914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lt1"/>
                </a:solidFill>
              </a:rPr>
              <a:t>ME 597 Independent Study</a:t>
            </a:r>
            <a:endParaRPr sz="1000">
              <a:solidFill>
                <a:schemeClr val="lt1"/>
              </a:solidFill>
            </a:endParaRPr>
          </a:p>
        </p:txBody>
      </p:sp>
      <p:sp>
        <p:nvSpPr>
          <p:cNvPr id="115" name="Google Shape;115;p15"/>
          <p:cNvSpPr txBox="1"/>
          <p:nvPr/>
        </p:nvSpPr>
        <p:spPr>
          <a:xfrm>
            <a:off x="9335603" y="6524381"/>
            <a:ext cx="2473415" cy="24618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6" name="Google Shape;116;p15"/>
          <p:cNvSpPr/>
          <p:nvPr/>
        </p:nvSpPr>
        <p:spPr>
          <a:xfrm flipH="1" rot="10800000">
            <a:off x="0" y="3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close up of a logo&#10;&#10;Description automatically generated" id="117" name="Google Shape;11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554209" y="228018"/>
            <a:ext cx="277907" cy="401420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15"/>
          <p:cNvSpPr txBox="1"/>
          <p:nvPr/>
        </p:nvSpPr>
        <p:spPr>
          <a:xfrm>
            <a:off x="376809" y="204053"/>
            <a:ext cx="10910027" cy="5231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Research Focus</a:t>
            </a:r>
            <a:endParaRPr/>
          </a:p>
        </p:txBody>
      </p:sp>
      <p:sp>
        <p:nvSpPr>
          <p:cNvPr id="119" name="Google Shape;119;p15"/>
          <p:cNvSpPr txBox="1"/>
          <p:nvPr>
            <p:ph idx="1" type="body"/>
          </p:nvPr>
        </p:nvSpPr>
        <p:spPr>
          <a:xfrm>
            <a:off x="738000" y="1345050"/>
            <a:ext cx="10716000" cy="416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Future space exploration missions require spacecraft capable of autonomous operation with limited communication and ground support.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Key Challenges</a:t>
            </a:r>
            <a:endParaRPr b="1"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SzPts val="1800"/>
              <a:buChar char="●"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Nonlinear Orbital Dynamics: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 Cislunar trajectories are governed by coupled gravitational effects, unstable regions, and sensitivity to initial conditions.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Mission Diversity: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 Earth orbits, lunar orbits, transfers, halo orbits, and DROs require different guidance behavior.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Continuous Disturbance Rejection: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 Autonomous systems must maintain tracking performance despite persistent model uncertainty and perturbations.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1100"/>
              </a:spcAft>
              <a:buNone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Research Direction:</a:t>
            </a:r>
            <a:br>
              <a:rPr b="1" lang="en-US" sz="1800">
                <a:latin typeface="Arial"/>
                <a:ea typeface="Arial"/>
                <a:cs typeface="Arial"/>
                <a:sym typeface="Arial"/>
              </a:rPr>
            </a:br>
            <a:r>
              <a:rPr lang="en-US" sz="1800">
                <a:latin typeface="Arial"/>
                <a:ea typeface="Arial"/>
                <a:cs typeface="Arial"/>
                <a:sym typeface="Arial"/>
              </a:rPr>
              <a:t> Investigate whether LLMs can provide a unified language-conditioned spacecraft guidance policy.</a:t>
            </a:r>
            <a:endParaRPr sz="1800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16"/>
          <p:cNvSpPr/>
          <p:nvPr/>
        </p:nvSpPr>
        <p:spPr>
          <a:xfrm flipH="1" rot="10800000">
            <a:off x="0" y="6437015"/>
            <a:ext cx="12192000" cy="420987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16"/>
          <p:cNvSpPr txBox="1"/>
          <p:nvPr/>
        </p:nvSpPr>
        <p:spPr>
          <a:xfrm>
            <a:off x="376812" y="6524382"/>
            <a:ext cx="79914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lt1"/>
                </a:solidFill>
              </a:rPr>
              <a:t>ME 597 Independent Study</a:t>
            </a:r>
            <a:endParaRPr/>
          </a:p>
        </p:txBody>
      </p:sp>
      <p:sp>
        <p:nvSpPr>
          <p:cNvPr id="126" name="Google Shape;126;p16"/>
          <p:cNvSpPr txBox="1"/>
          <p:nvPr/>
        </p:nvSpPr>
        <p:spPr>
          <a:xfrm>
            <a:off x="9335603" y="6524381"/>
            <a:ext cx="2473415" cy="24618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7" name="Google Shape;127;p16"/>
          <p:cNvSpPr/>
          <p:nvPr/>
        </p:nvSpPr>
        <p:spPr>
          <a:xfrm flipH="1" rot="10800000">
            <a:off x="0" y="3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close up of a logo&#10;&#10;Description automatically generated" id="128" name="Google Shape;128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554209" y="228018"/>
            <a:ext cx="277907" cy="401420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16"/>
          <p:cNvSpPr txBox="1"/>
          <p:nvPr/>
        </p:nvSpPr>
        <p:spPr>
          <a:xfrm>
            <a:off x="376809" y="204053"/>
            <a:ext cx="10910027" cy="5231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lt1"/>
                </a:solidFill>
              </a:rPr>
              <a:t>Research </a:t>
            </a:r>
            <a:r>
              <a:rPr b="0" i="0" lang="en-US" sz="2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Objectives</a:t>
            </a:r>
            <a:endParaRPr/>
          </a:p>
        </p:txBody>
      </p:sp>
      <p:sp>
        <p:nvSpPr>
          <p:cNvPr id="130" name="Google Shape;130;p16"/>
          <p:cNvSpPr txBox="1"/>
          <p:nvPr>
            <p:ph idx="1" type="body"/>
          </p:nvPr>
        </p:nvSpPr>
        <p:spPr>
          <a:xfrm>
            <a:off x="844525" y="1406450"/>
            <a:ext cx="9974700" cy="4351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Evaluate the feasibility, precision, and closed-loop performance of autoregressive language models acting as primary feedback controllers in cislunar space.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Core Research Questions</a:t>
            </a:r>
            <a:br>
              <a:rPr b="1" lang="en-US" sz="1800">
                <a:latin typeface="Arial"/>
                <a:ea typeface="Arial"/>
                <a:cs typeface="Arial"/>
                <a:sym typeface="Arial"/>
              </a:rPr>
            </a:br>
            <a:endParaRPr b="1"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SzPts val="1800"/>
              <a:buChar char="●"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Dynamic Learning: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 Can a parameter-efficient fine-tuned LLM learn nonlinear spacecraft guidance behavior when formatted as sequence-to-sequence control data?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Closed-Loop Feedback: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 Can generated continuous thrust commands maintain spacecraft trajectory tracking during disturbed nonlinear CRTBP propagation?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Control Precision: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 Does high token-level imitation accuracy translate into accurate spacecraft-level control performance?</a:t>
            </a:r>
            <a:endParaRPr sz="1800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17"/>
          <p:cNvSpPr/>
          <p:nvPr/>
        </p:nvSpPr>
        <p:spPr>
          <a:xfrm flipH="1" rot="10800000">
            <a:off x="0" y="6437015"/>
            <a:ext cx="12192000" cy="420987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17"/>
          <p:cNvSpPr txBox="1"/>
          <p:nvPr/>
        </p:nvSpPr>
        <p:spPr>
          <a:xfrm>
            <a:off x="376812" y="6524382"/>
            <a:ext cx="79914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lt1"/>
                </a:solidFill>
              </a:rPr>
              <a:t>ME 597 Independent Study</a:t>
            </a:r>
            <a:endParaRPr sz="1000">
              <a:solidFill>
                <a:schemeClr val="lt1"/>
              </a:solidFill>
            </a:endParaRPr>
          </a:p>
        </p:txBody>
      </p:sp>
      <p:sp>
        <p:nvSpPr>
          <p:cNvPr id="137" name="Google Shape;137;p17"/>
          <p:cNvSpPr txBox="1"/>
          <p:nvPr/>
        </p:nvSpPr>
        <p:spPr>
          <a:xfrm>
            <a:off x="9335603" y="6524381"/>
            <a:ext cx="2473415" cy="24618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38" name="Google Shape;138;p17"/>
          <p:cNvSpPr/>
          <p:nvPr/>
        </p:nvSpPr>
        <p:spPr>
          <a:xfrm flipH="1" rot="10800000">
            <a:off x="0" y="3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close up of a logo&#10;&#10;Description automatically generated" id="139" name="Google Shape;139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554209" y="228018"/>
            <a:ext cx="277907" cy="401420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p17"/>
          <p:cNvSpPr txBox="1"/>
          <p:nvPr/>
        </p:nvSpPr>
        <p:spPr>
          <a:xfrm>
            <a:off x="376809" y="204053"/>
            <a:ext cx="10910027" cy="5231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lt1"/>
                </a:solidFill>
              </a:rPr>
              <a:t>Research</a:t>
            </a:r>
            <a:r>
              <a:rPr lang="en-US" sz="2800">
                <a:solidFill>
                  <a:schemeClr val="lt1"/>
                </a:solidFill>
              </a:rPr>
              <a:t> Framework</a:t>
            </a:r>
            <a:endParaRPr/>
          </a:p>
        </p:txBody>
      </p:sp>
      <p:sp>
        <p:nvSpPr>
          <p:cNvPr id="141" name="Google Shape;141;p17"/>
          <p:cNvSpPr txBox="1"/>
          <p:nvPr>
            <p:ph idx="1" type="body"/>
          </p:nvPr>
        </p:nvSpPr>
        <p:spPr>
          <a:xfrm>
            <a:off x="838125" y="1144225"/>
            <a:ext cx="10448700" cy="501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Physics-Based Demonstration to Learned Guidance Policy</a:t>
            </a:r>
            <a:endParaRPr b="1"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SzPts val="1800"/>
              <a:buChar char="●"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Theoretical Domain: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 Earth–Moon Circular Restricted Three-Body Problem (CRTBP)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Guidance Policy: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 Adaptive gain-scheduled PID-like controller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Dataset: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 Natural-language spacecraft state and control-command demonstrations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Model: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 LoRA-adapted Llama 3.1 8B Instruct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Evaluation: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 Closed-loop LLM spacecraft control under disturbances</a:t>
            </a:r>
            <a:endParaRPr b="1" sz="1800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8"/>
          <p:cNvSpPr/>
          <p:nvPr/>
        </p:nvSpPr>
        <p:spPr>
          <a:xfrm flipH="1" rot="10800000">
            <a:off x="-1" y="64"/>
            <a:ext cx="12192000" cy="686610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building, street&#10;&#10;Description automatically generated" id="148" name="Google Shape;148;p18"/>
          <p:cNvPicPr preferRelativeResize="0"/>
          <p:nvPr/>
        </p:nvPicPr>
        <p:blipFill rotWithShape="1">
          <a:blip r:embed="rId3">
            <a:alphaModFix amt="25000"/>
          </a:blip>
          <a:srcRect b="0" l="0" r="0" t="0"/>
          <a:stretch/>
        </p:blipFill>
        <p:spPr>
          <a:xfrm>
            <a:off x="-2" y="8165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18"/>
          <p:cNvSpPr txBox="1"/>
          <p:nvPr/>
        </p:nvSpPr>
        <p:spPr>
          <a:xfrm>
            <a:off x="1133991" y="2532942"/>
            <a:ext cx="9924000" cy="113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4500">
                <a:solidFill>
                  <a:schemeClr val="lt1"/>
                </a:solidFill>
              </a:rPr>
              <a:t>Simulation </a:t>
            </a:r>
            <a:r>
              <a:rPr b="1" lang="en-US" sz="4500">
                <a:solidFill>
                  <a:schemeClr val="lt1"/>
                </a:solidFill>
              </a:rPr>
              <a:t>Environment</a:t>
            </a:r>
            <a:endParaRPr b="0" i="0" sz="4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picture containing drawing&#10;&#10;Description automatically generated" id="150" name="Google Shape;150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081137" y="5864575"/>
            <a:ext cx="2909984" cy="75408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19"/>
          <p:cNvSpPr/>
          <p:nvPr/>
        </p:nvSpPr>
        <p:spPr>
          <a:xfrm flipH="1" rot="10800000">
            <a:off x="0" y="6437102"/>
            <a:ext cx="12192000" cy="42090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19"/>
          <p:cNvSpPr txBox="1"/>
          <p:nvPr/>
        </p:nvSpPr>
        <p:spPr>
          <a:xfrm>
            <a:off x="376812" y="6524382"/>
            <a:ext cx="79914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lt1"/>
                </a:solidFill>
              </a:rPr>
              <a:t>ME 597 Independent Study</a:t>
            </a:r>
            <a:endParaRPr sz="1000">
              <a:solidFill>
                <a:schemeClr val="lt1"/>
              </a:solidFill>
            </a:endParaRPr>
          </a:p>
        </p:txBody>
      </p:sp>
      <p:sp>
        <p:nvSpPr>
          <p:cNvPr id="157" name="Google Shape;157;p19"/>
          <p:cNvSpPr txBox="1"/>
          <p:nvPr/>
        </p:nvSpPr>
        <p:spPr>
          <a:xfrm>
            <a:off x="9335603" y="6524381"/>
            <a:ext cx="24735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58" name="Google Shape;158;p19"/>
          <p:cNvSpPr/>
          <p:nvPr/>
        </p:nvSpPr>
        <p:spPr>
          <a:xfrm flipH="1" rot="10800000">
            <a:off x="0" y="23"/>
            <a:ext cx="12192000" cy="86820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close up of a logo&#10;&#10;Description automatically generated" id="159" name="Google Shape;159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554209" y="228018"/>
            <a:ext cx="277907" cy="401420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19"/>
          <p:cNvSpPr txBox="1"/>
          <p:nvPr/>
        </p:nvSpPr>
        <p:spPr>
          <a:xfrm>
            <a:off x="376809" y="204053"/>
            <a:ext cx="10910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lt1"/>
                </a:solidFill>
              </a:rPr>
              <a:t>CRTBP Earth-Moon </a:t>
            </a:r>
            <a:r>
              <a:rPr lang="en-US" sz="2800">
                <a:solidFill>
                  <a:schemeClr val="lt1"/>
                </a:solidFill>
              </a:rPr>
              <a:t>Domain</a:t>
            </a:r>
            <a:endParaRPr/>
          </a:p>
        </p:txBody>
      </p:sp>
      <p:sp>
        <p:nvSpPr>
          <p:cNvPr id="161" name="Google Shape;161;p19"/>
          <p:cNvSpPr txBox="1"/>
          <p:nvPr>
            <p:ph idx="1" type="body"/>
          </p:nvPr>
        </p:nvSpPr>
        <p:spPr>
          <a:xfrm>
            <a:off x="486525" y="1188175"/>
            <a:ext cx="10800300" cy="4741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CRTBP Dynamical Model</a:t>
            </a:r>
            <a:endParaRPr b="1"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The CRTBP governs the motion of a massless spacecraft influenced by two primary orbiting bodies.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The Earth–Moon system is represented using 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non dimensional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 rotating coordinates.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The nonlinear rotating-frame dynamics capture important cislunar trajectory behaviors.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The Jacobi constant provides conserved energy structure for the unforced system: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ctr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C=2U−v2C=2U-v^2C=2U−v2</a:t>
            </a:r>
            <a:endParaRPr b="1" sz="18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1100"/>
              </a:spcAft>
              <a:buClr>
                <a:schemeClr val="dk1"/>
              </a:buClr>
              <a:buSzPts val="1100"/>
              <a:buNone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Purpose:</a:t>
            </a:r>
            <a:br>
              <a:rPr b="1" lang="en-US" sz="1800">
                <a:latin typeface="Arial"/>
                <a:ea typeface="Arial"/>
                <a:cs typeface="Arial"/>
                <a:sym typeface="Arial"/>
              </a:rPr>
            </a:br>
            <a:r>
              <a:rPr lang="en-US" sz="1800">
                <a:latin typeface="Arial"/>
                <a:ea typeface="Arial"/>
                <a:cs typeface="Arial"/>
                <a:sym typeface="Arial"/>
              </a:rPr>
              <a:t> Provide a computationally efficient nonlinear environment for guidance-policy generation and evaluation.</a:t>
            </a:r>
            <a:endParaRPr sz="1800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0"/>
          <p:cNvSpPr/>
          <p:nvPr/>
        </p:nvSpPr>
        <p:spPr>
          <a:xfrm flipH="1" rot="10800000">
            <a:off x="0" y="6437102"/>
            <a:ext cx="12192000" cy="42090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20"/>
          <p:cNvSpPr txBox="1"/>
          <p:nvPr/>
        </p:nvSpPr>
        <p:spPr>
          <a:xfrm>
            <a:off x="376812" y="6524382"/>
            <a:ext cx="79914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lt1"/>
                </a:solidFill>
              </a:rPr>
              <a:t>ME 597 Independent Study</a:t>
            </a:r>
            <a:endParaRPr sz="1000">
              <a:solidFill>
                <a:schemeClr val="lt1"/>
              </a:solidFill>
            </a:endParaRPr>
          </a:p>
        </p:txBody>
      </p:sp>
      <p:sp>
        <p:nvSpPr>
          <p:cNvPr id="168" name="Google Shape;168;p20"/>
          <p:cNvSpPr txBox="1"/>
          <p:nvPr/>
        </p:nvSpPr>
        <p:spPr>
          <a:xfrm>
            <a:off x="9335603" y="6524381"/>
            <a:ext cx="24735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69" name="Google Shape;169;p20"/>
          <p:cNvSpPr/>
          <p:nvPr/>
        </p:nvSpPr>
        <p:spPr>
          <a:xfrm flipH="1" rot="10800000">
            <a:off x="0" y="23"/>
            <a:ext cx="12192000" cy="86820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close up of a logo&#10;&#10;Description automatically generated" id="170" name="Google Shape;17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554209" y="228018"/>
            <a:ext cx="277907" cy="401420"/>
          </a:xfrm>
          <a:prstGeom prst="rect">
            <a:avLst/>
          </a:prstGeom>
          <a:noFill/>
          <a:ln>
            <a:noFill/>
          </a:ln>
        </p:spPr>
      </p:pic>
      <p:sp>
        <p:nvSpPr>
          <p:cNvPr id="171" name="Google Shape;171;p20"/>
          <p:cNvSpPr txBox="1"/>
          <p:nvPr/>
        </p:nvSpPr>
        <p:spPr>
          <a:xfrm>
            <a:off x="376809" y="204053"/>
            <a:ext cx="10910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2800">
                <a:solidFill>
                  <a:schemeClr val="lt1"/>
                </a:solidFill>
              </a:rPr>
              <a:t>Simulation and Trajectory Generation</a:t>
            </a:r>
            <a:endParaRPr sz="2800">
              <a:solidFill>
                <a:schemeClr val="lt1"/>
              </a:solidFill>
            </a:endParaRPr>
          </a:p>
        </p:txBody>
      </p:sp>
      <p:sp>
        <p:nvSpPr>
          <p:cNvPr id="172" name="Google Shape;172;p20"/>
          <p:cNvSpPr txBox="1"/>
          <p:nvPr>
            <p:ph idx="1" type="body"/>
          </p:nvPr>
        </p:nvSpPr>
        <p:spPr>
          <a:xfrm>
            <a:off x="486525" y="1188175"/>
            <a:ext cx="10225500" cy="4741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Numerical Propagation Framework</a:t>
            </a:r>
            <a:endParaRPr b="1"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SzPts val="1800"/>
              <a:buChar char="●"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Canonical Units: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 Distance, velocity, and acceleration are normalized using Earth–Moon characteristic scales.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Numerical Integration: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 Adaptive Runge–Kutta propagation using nonlinear CRTBP equations.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STM Propagation: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 State Transition Matrix integration enables trajectory sensitivity analysis and periodic orbit correction.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Reference Trajectories: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 Generated through nonlinear propagation, multiple-shooting correction, and spline interpolation.</a:t>
            </a:r>
            <a:endParaRPr sz="1800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1"/>
          <p:cNvSpPr/>
          <p:nvPr/>
        </p:nvSpPr>
        <p:spPr>
          <a:xfrm flipH="1" rot="10800000">
            <a:off x="0" y="6437102"/>
            <a:ext cx="12192000" cy="42090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21"/>
          <p:cNvSpPr txBox="1"/>
          <p:nvPr/>
        </p:nvSpPr>
        <p:spPr>
          <a:xfrm>
            <a:off x="376812" y="6524382"/>
            <a:ext cx="79914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lt1"/>
                </a:solidFill>
              </a:rPr>
              <a:t>ME 597 Independent Study</a:t>
            </a:r>
            <a:endParaRPr sz="1000">
              <a:solidFill>
                <a:schemeClr val="lt1"/>
              </a:solidFill>
            </a:endParaRPr>
          </a:p>
        </p:txBody>
      </p:sp>
      <p:sp>
        <p:nvSpPr>
          <p:cNvPr id="179" name="Google Shape;179;p21"/>
          <p:cNvSpPr txBox="1"/>
          <p:nvPr/>
        </p:nvSpPr>
        <p:spPr>
          <a:xfrm>
            <a:off x="9335603" y="6524381"/>
            <a:ext cx="24735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80" name="Google Shape;180;p21"/>
          <p:cNvSpPr/>
          <p:nvPr/>
        </p:nvSpPr>
        <p:spPr>
          <a:xfrm flipH="1" rot="10800000">
            <a:off x="0" y="23"/>
            <a:ext cx="12192000" cy="86820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close up of a logo&#10;&#10;Description automatically generated" id="181" name="Google Shape;181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554209" y="228018"/>
            <a:ext cx="277907" cy="40142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21"/>
          <p:cNvSpPr txBox="1"/>
          <p:nvPr/>
        </p:nvSpPr>
        <p:spPr>
          <a:xfrm>
            <a:off x="376809" y="204053"/>
            <a:ext cx="10910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2800">
                <a:solidFill>
                  <a:schemeClr val="lt1"/>
                </a:solidFill>
              </a:rPr>
              <a:t>Cislunar Trajectory Classes</a:t>
            </a:r>
            <a:endParaRPr sz="2800">
              <a:solidFill>
                <a:schemeClr val="lt1"/>
              </a:solidFill>
            </a:endParaRPr>
          </a:p>
        </p:txBody>
      </p:sp>
      <p:sp>
        <p:nvSpPr>
          <p:cNvPr id="183" name="Google Shape;183;p21"/>
          <p:cNvSpPr txBox="1"/>
          <p:nvPr>
            <p:ph idx="1" type="body"/>
          </p:nvPr>
        </p:nvSpPr>
        <p:spPr>
          <a:xfrm>
            <a:off x="486525" y="1188175"/>
            <a:ext cx="4752300" cy="4741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Multi-Regime Evaluation Environment</a:t>
            </a:r>
            <a:endParaRPr b="1" sz="18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The simulation framework supports: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Earth Orbit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Moon Orbit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Earth–Moon Transfer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L1 Halo Orbit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L2 Halo Orbit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Distant Retrograde Orbit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1100"/>
              </a:spcAft>
              <a:buClr>
                <a:schemeClr val="dk1"/>
              </a:buClr>
              <a:buSzPts val="1100"/>
              <a:buNone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Objective:</a:t>
            </a:r>
            <a:br>
              <a:rPr b="1" lang="en-US" sz="1800">
                <a:latin typeface="Arial"/>
                <a:ea typeface="Arial"/>
                <a:cs typeface="Arial"/>
                <a:sym typeface="Arial"/>
              </a:rPr>
            </a:br>
            <a:r>
              <a:rPr lang="en-US" sz="1800">
                <a:latin typeface="Arial"/>
                <a:ea typeface="Arial"/>
                <a:cs typeface="Arial"/>
                <a:sym typeface="Arial"/>
              </a:rPr>
              <a:t>Test whether one learned policy can generalize across substantially different dynamical environments.</a:t>
            </a:r>
            <a:endParaRPr sz="1800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84" name="Google Shape;184;p21" title="multi_trajectory_summary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194868" y="1062276"/>
            <a:ext cx="6732836" cy="5039776"/>
          </a:xfrm>
          <a:prstGeom prst="rect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22"/>
          <p:cNvSpPr/>
          <p:nvPr/>
        </p:nvSpPr>
        <p:spPr>
          <a:xfrm flipH="1" rot="10800000">
            <a:off x="0" y="6437102"/>
            <a:ext cx="12192000" cy="42090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2"/>
          <p:cNvSpPr txBox="1"/>
          <p:nvPr/>
        </p:nvSpPr>
        <p:spPr>
          <a:xfrm>
            <a:off x="376812" y="6524382"/>
            <a:ext cx="79914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lt1"/>
                </a:solidFill>
              </a:rPr>
              <a:t>ME 597 Independent Study</a:t>
            </a:r>
            <a:endParaRPr sz="1000">
              <a:solidFill>
                <a:schemeClr val="lt1"/>
              </a:solidFill>
            </a:endParaRPr>
          </a:p>
        </p:txBody>
      </p:sp>
      <p:sp>
        <p:nvSpPr>
          <p:cNvPr id="191" name="Google Shape;191;p22"/>
          <p:cNvSpPr txBox="1"/>
          <p:nvPr/>
        </p:nvSpPr>
        <p:spPr>
          <a:xfrm>
            <a:off x="9335603" y="6524381"/>
            <a:ext cx="24735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92" name="Google Shape;192;p22"/>
          <p:cNvSpPr/>
          <p:nvPr/>
        </p:nvSpPr>
        <p:spPr>
          <a:xfrm flipH="1" rot="10800000">
            <a:off x="0" y="23"/>
            <a:ext cx="12192000" cy="86820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close up of a logo&#10;&#10;Description automatically generated" id="193" name="Google Shape;193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554209" y="228018"/>
            <a:ext cx="277907" cy="401420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22"/>
          <p:cNvSpPr txBox="1"/>
          <p:nvPr/>
        </p:nvSpPr>
        <p:spPr>
          <a:xfrm>
            <a:off x="376809" y="204053"/>
            <a:ext cx="10910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2800">
                <a:solidFill>
                  <a:schemeClr val="lt1"/>
                </a:solidFill>
              </a:rPr>
              <a:t>Controller Information Structure</a:t>
            </a:r>
            <a:endParaRPr sz="2800">
              <a:solidFill>
                <a:schemeClr val="lt1"/>
              </a:solidFill>
            </a:endParaRPr>
          </a:p>
        </p:txBody>
      </p:sp>
      <p:sp>
        <p:nvSpPr>
          <p:cNvPr id="195" name="Google Shape;195;p22"/>
          <p:cNvSpPr txBox="1"/>
          <p:nvPr>
            <p:ph idx="1" type="body"/>
          </p:nvPr>
        </p:nvSpPr>
        <p:spPr>
          <a:xfrm>
            <a:off x="486525" y="1028263"/>
            <a:ext cx="10225500" cy="5248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PID-like Controller vs. </a:t>
            </a: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Learned </a:t>
            </a: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Policy</a:t>
            </a:r>
            <a:endParaRPr b="1" sz="18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PID-like Controller Access:</a:t>
            </a:r>
            <a:endParaRPr b="1"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Current spacecraft state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Reference trajectory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Tracking-error history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Integral state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Adaptive gains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Local instability information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Continuous feedback updates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LLM Access:</a:t>
            </a:r>
            <a:endParaRPr b="1"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Current spacecraft state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Reference state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Tracking error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Mission context</a:t>
            </a:r>
            <a:endParaRPr sz="1800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6" name="Google Shape;196;p22" title="trajectory_results_run_1.png"/>
          <p:cNvPicPr preferRelativeResize="0"/>
          <p:nvPr/>
        </p:nvPicPr>
        <p:blipFill rotWithShape="1">
          <a:blip r:embed="rId4">
            <a:alphaModFix/>
          </a:blip>
          <a:srcRect b="0" l="0" r="0" t="50159"/>
          <a:stretch/>
        </p:blipFill>
        <p:spPr>
          <a:xfrm>
            <a:off x="5073337" y="1025764"/>
            <a:ext cx="6685783" cy="2495914"/>
          </a:xfrm>
          <a:prstGeom prst="rect">
            <a:avLst/>
          </a:prstGeom>
          <a:noFill/>
          <a:ln>
            <a:noFill/>
          </a:ln>
        </p:spPr>
      </p:pic>
      <p:pic>
        <p:nvPicPr>
          <p:cNvPr id="197" name="Google Shape;197;p22" title="trajectory_results_run_5.png"/>
          <p:cNvPicPr preferRelativeResize="0"/>
          <p:nvPr/>
        </p:nvPicPr>
        <p:blipFill rotWithShape="1">
          <a:blip r:embed="rId5">
            <a:alphaModFix/>
          </a:blip>
          <a:srcRect b="0" l="0" r="0" t="49860"/>
          <a:stretch/>
        </p:blipFill>
        <p:spPr>
          <a:xfrm>
            <a:off x="5073350" y="3737197"/>
            <a:ext cx="6650204" cy="2495916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22"/>
          <p:cNvSpPr/>
          <p:nvPr/>
        </p:nvSpPr>
        <p:spPr>
          <a:xfrm>
            <a:off x="5002820" y="1025763"/>
            <a:ext cx="6685800" cy="5198400"/>
          </a:xfrm>
          <a:prstGeom prst="rect">
            <a:avLst/>
          </a:prstGeom>
          <a:noFill/>
          <a:ln cap="flat" cmpd="sng" w="203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7775" lIns="97775" spcFirstLastPara="1" rIns="97775" wrap="square" tIns="977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97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23"/>
          <p:cNvSpPr/>
          <p:nvPr/>
        </p:nvSpPr>
        <p:spPr>
          <a:xfrm flipH="1" rot="10800000">
            <a:off x="-1" y="64"/>
            <a:ext cx="12192000" cy="686610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building, street&#10;&#10;Description automatically generated" id="205" name="Google Shape;205;p23"/>
          <p:cNvPicPr preferRelativeResize="0"/>
          <p:nvPr/>
        </p:nvPicPr>
        <p:blipFill rotWithShape="1">
          <a:blip r:embed="rId3">
            <a:alphaModFix amt="25000"/>
          </a:blip>
          <a:srcRect b="0" l="0" r="0" t="0"/>
          <a:stretch/>
        </p:blipFill>
        <p:spPr>
          <a:xfrm>
            <a:off x="-2" y="8165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6" name="Google Shape;206;p23"/>
          <p:cNvSpPr txBox="1"/>
          <p:nvPr/>
        </p:nvSpPr>
        <p:spPr>
          <a:xfrm>
            <a:off x="1133991" y="2532942"/>
            <a:ext cx="9924000" cy="113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4500">
                <a:solidFill>
                  <a:schemeClr val="lt1"/>
                </a:solidFill>
              </a:rPr>
              <a:t>Natural Language Data Generation</a:t>
            </a:r>
            <a:endParaRPr b="0" i="0" sz="4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picture containing drawing&#10;&#10;Description automatically generated" id="207" name="Google Shape;207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081137" y="5864575"/>
            <a:ext cx="2909984" cy="75408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24"/>
          <p:cNvSpPr/>
          <p:nvPr/>
        </p:nvSpPr>
        <p:spPr>
          <a:xfrm flipH="1" rot="10800000">
            <a:off x="0" y="6437102"/>
            <a:ext cx="12192000" cy="42090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4"/>
          <p:cNvSpPr txBox="1"/>
          <p:nvPr/>
        </p:nvSpPr>
        <p:spPr>
          <a:xfrm>
            <a:off x="376812" y="6524382"/>
            <a:ext cx="79914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lt1"/>
                </a:solidFill>
              </a:rPr>
              <a:t>ME 597 Independent Study</a:t>
            </a:r>
            <a:endParaRPr sz="1000">
              <a:solidFill>
                <a:schemeClr val="lt1"/>
              </a:solidFill>
            </a:endParaRPr>
          </a:p>
        </p:txBody>
      </p:sp>
      <p:sp>
        <p:nvSpPr>
          <p:cNvPr id="214" name="Google Shape;214;p24"/>
          <p:cNvSpPr txBox="1"/>
          <p:nvPr/>
        </p:nvSpPr>
        <p:spPr>
          <a:xfrm>
            <a:off x="9335603" y="6524381"/>
            <a:ext cx="24735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215" name="Google Shape;215;p24"/>
          <p:cNvSpPr/>
          <p:nvPr/>
        </p:nvSpPr>
        <p:spPr>
          <a:xfrm flipH="1" rot="10800000">
            <a:off x="0" y="23"/>
            <a:ext cx="12192000" cy="86820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close up of a logo&#10;&#10;Description automatically generated" id="216" name="Google Shape;21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554209" y="228018"/>
            <a:ext cx="277907" cy="401420"/>
          </a:xfrm>
          <a:prstGeom prst="rect">
            <a:avLst/>
          </a:prstGeom>
          <a:noFill/>
          <a:ln>
            <a:noFill/>
          </a:ln>
        </p:spPr>
      </p:pic>
      <p:sp>
        <p:nvSpPr>
          <p:cNvPr id="217" name="Google Shape;217;p24"/>
          <p:cNvSpPr txBox="1"/>
          <p:nvPr/>
        </p:nvSpPr>
        <p:spPr>
          <a:xfrm>
            <a:off x="376809" y="204053"/>
            <a:ext cx="10910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2800">
                <a:solidFill>
                  <a:schemeClr val="lt1"/>
                </a:solidFill>
              </a:rPr>
              <a:t>Dataset Construction</a:t>
            </a:r>
            <a:endParaRPr sz="2800">
              <a:solidFill>
                <a:schemeClr val="lt1"/>
              </a:solidFill>
            </a:endParaRPr>
          </a:p>
        </p:txBody>
      </p:sp>
      <p:sp>
        <p:nvSpPr>
          <p:cNvPr id="218" name="Google Shape;218;p24"/>
          <p:cNvSpPr txBox="1"/>
          <p:nvPr>
            <p:ph idx="1" type="body"/>
          </p:nvPr>
        </p:nvSpPr>
        <p:spPr>
          <a:xfrm>
            <a:off x="486525" y="1188175"/>
            <a:ext cx="8445000" cy="4741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Dataset Generation Pipeline</a:t>
            </a:r>
            <a:endParaRPr b="1"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Generate nominal reference trajectories.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Inject controlled position and velocity disturbances.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Propagate recovery trajectories using the PID-like controller.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Store spacecraft state, reference state, mission context, and control action.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Convert numerical states and actions into structured language prompts and responses.</a:t>
            </a:r>
            <a:endParaRPr sz="18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9" name="Google Shape;219;p24"/>
          <p:cNvSpPr txBox="1"/>
          <p:nvPr/>
        </p:nvSpPr>
        <p:spPr>
          <a:xfrm>
            <a:off x="362700" y="4410808"/>
            <a:ext cx="114666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Trajectory/</a:t>
            </a:r>
            <a:r>
              <a:rPr lang="en-US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Perturbation</a:t>
            </a:r>
            <a:r>
              <a:rPr lang="en-US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→ Spacecraft State/Control Input →Natural Language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25"/>
          <p:cNvSpPr/>
          <p:nvPr/>
        </p:nvSpPr>
        <p:spPr>
          <a:xfrm flipH="1" rot="10800000">
            <a:off x="0" y="6437102"/>
            <a:ext cx="12192000" cy="42090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25"/>
          <p:cNvSpPr txBox="1"/>
          <p:nvPr/>
        </p:nvSpPr>
        <p:spPr>
          <a:xfrm>
            <a:off x="376812" y="6524382"/>
            <a:ext cx="79914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lt1"/>
                </a:solidFill>
              </a:rPr>
              <a:t>ME 597 Independent Study</a:t>
            </a:r>
            <a:endParaRPr sz="1000">
              <a:solidFill>
                <a:schemeClr val="lt1"/>
              </a:solidFill>
            </a:endParaRPr>
          </a:p>
        </p:txBody>
      </p:sp>
      <p:sp>
        <p:nvSpPr>
          <p:cNvPr id="226" name="Google Shape;226;p25"/>
          <p:cNvSpPr txBox="1"/>
          <p:nvPr/>
        </p:nvSpPr>
        <p:spPr>
          <a:xfrm>
            <a:off x="9335603" y="6524381"/>
            <a:ext cx="24735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227" name="Google Shape;227;p25"/>
          <p:cNvSpPr/>
          <p:nvPr/>
        </p:nvSpPr>
        <p:spPr>
          <a:xfrm flipH="1" rot="10800000">
            <a:off x="0" y="23"/>
            <a:ext cx="12192000" cy="86820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close up of a logo&#10;&#10;Description automatically generated" id="228" name="Google Shape;228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554209" y="228018"/>
            <a:ext cx="277907" cy="401420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25"/>
          <p:cNvSpPr txBox="1"/>
          <p:nvPr/>
        </p:nvSpPr>
        <p:spPr>
          <a:xfrm>
            <a:off x="376809" y="204053"/>
            <a:ext cx="10910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2800">
                <a:solidFill>
                  <a:schemeClr val="lt1"/>
                </a:solidFill>
              </a:rPr>
              <a:t>Dataset Size and Mission Coverage</a:t>
            </a:r>
            <a:endParaRPr sz="2800">
              <a:solidFill>
                <a:schemeClr val="lt1"/>
              </a:solidFill>
            </a:endParaRPr>
          </a:p>
        </p:txBody>
      </p:sp>
      <p:sp>
        <p:nvSpPr>
          <p:cNvPr id="230" name="Google Shape;230;p25"/>
          <p:cNvSpPr txBox="1"/>
          <p:nvPr>
            <p:ph idx="1" type="body"/>
          </p:nvPr>
        </p:nvSpPr>
        <p:spPr>
          <a:xfrm>
            <a:off x="486525" y="1188175"/>
            <a:ext cx="10225500" cy="4741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Dataset Composition</a:t>
            </a:r>
            <a:endParaRPr b="1"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SzPts val="1800"/>
              <a:buChar char="●"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600 complete spacecraft trajectories</a:t>
            </a:r>
            <a:endParaRPr b="1"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1,311,089 supervised prompt-response pairs</a:t>
            </a:r>
            <a:endParaRPr b="1"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Samples extracted using stride-two trajectory sampling.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Mission Distribution</a:t>
            </a:r>
            <a:endParaRPr b="1"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Earth Orbit: 46.1%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Earth–Moon Transfer: 26.8%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Moon Orbit: 13.2%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L1 Halo: 9.5%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L2 Halo: 3.2%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DRO: 1.2%</a:t>
            </a:r>
            <a:endParaRPr sz="1800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26"/>
          <p:cNvSpPr/>
          <p:nvPr/>
        </p:nvSpPr>
        <p:spPr>
          <a:xfrm flipH="1" rot="10800000">
            <a:off x="0" y="6437102"/>
            <a:ext cx="12192000" cy="42090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26"/>
          <p:cNvSpPr txBox="1"/>
          <p:nvPr/>
        </p:nvSpPr>
        <p:spPr>
          <a:xfrm>
            <a:off x="376812" y="6524382"/>
            <a:ext cx="79914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lt1"/>
                </a:solidFill>
              </a:rPr>
              <a:t>ME 597 Independent Study</a:t>
            </a:r>
            <a:endParaRPr sz="1000">
              <a:solidFill>
                <a:schemeClr val="lt1"/>
              </a:solidFill>
            </a:endParaRPr>
          </a:p>
        </p:txBody>
      </p:sp>
      <p:sp>
        <p:nvSpPr>
          <p:cNvPr id="237" name="Google Shape;237;p26"/>
          <p:cNvSpPr txBox="1"/>
          <p:nvPr/>
        </p:nvSpPr>
        <p:spPr>
          <a:xfrm>
            <a:off x="9335603" y="6524381"/>
            <a:ext cx="24735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238" name="Google Shape;238;p26"/>
          <p:cNvSpPr/>
          <p:nvPr/>
        </p:nvSpPr>
        <p:spPr>
          <a:xfrm flipH="1" rot="10800000">
            <a:off x="0" y="23"/>
            <a:ext cx="12192000" cy="86820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close up of a logo&#10;&#10;Description automatically generated" id="239" name="Google Shape;239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554209" y="228018"/>
            <a:ext cx="277907" cy="401420"/>
          </a:xfrm>
          <a:prstGeom prst="rect">
            <a:avLst/>
          </a:prstGeom>
          <a:noFill/>
          <a:ln>
            <a:noFill/>
          </a:ln>
        </p:spPr>
      </p:pic>
      <p:sp>
        <p:nvSpPr>
          <p:cNvPr id="240" name="Google Shape;240;p26"/>
          <p:cNvSpPr txBox="1"/>
          <p:nvPr/>
        </p:nvSpPr>
        <p:spPr>
          <a:xfrm>
            <a:off x="376809" y="204053"/>
            <a:ext cx="10910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2800">
                <a:solidFill>
                  <a:schemeClr val="lt1"/>
                </a:solidFill>
              </a:rPr>
              <a:t>Natural-Language Representation</a:t>
            </a:r>
            <a:endParaRPr sz="2800">
              <a:solidFill>
                <a:schemeClr val="lt1"/>
              </a:solidFill>
            </a:endParaRPr>
          </a:p>
        </p:txBody>
      </p:sp>
      <p:sp>
        <p:nvSpPr>
          <p:cNvPr id="241" name="Google Shape;241;p26"/>
          <p:cNvSpPr txBox="1"/>
          <p:nvPr>
            <p:ph idx="1" type="body"/>
          </p:nvPr>
        </p:nvSpPr>
        <p:spPr>
          <a:xfrm>
            <a:off x="486525" y="1188175"/>
            <a:ext cx="10225500" cy="4741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State-to-Text and Control-to-Text Conversion</a:t>
            </a:r>
            <a:endParaRPr b="1" sz="18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Input Prompt Contains:</a:t>
            </a:r>
            <a:endParaRPr b="1"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Cartesian position and velocity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Magnitude and direction information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Reference trajectory state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Position and velocity tracking errors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Mission progress and objective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Output Response Contains:</a:t>
            </a:r>
            <a:endParaRPr b="1"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Three-axis acceleration vector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Magnitude and orientation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Canonical and physical units</a:t>
            </a:r>
            <a:endParaRPr b="1" sz="18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26"/>
          <p:cNvSpPr txBox="1"/>
          <p:nvPr/>
        </p:nvSpPr>
        <p:spPr>
          <a:xfrm>
            <a:off x="6374100" y="1632000"/>
            <a:ext cx="5180100" cy="3594000"/>
          </a:xfrm>
          <a:prstGeom prst="rect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</a:rPr>
              <a:t>{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</a:rPr>
              <a:t>      "role": "assistant",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</a:rPr>
              <a:t>      "content": "Command a continuous thrust acceleration vector of +8.9141e-07 m/s2 (0.000327 canonical units) along the X-axis, +1.2422e-06 m/s2 (0.000456 canonical units) along the Y-axis, and -7.2122e-08 m/s2 (-0.000026 canonical units) along the Z-axis. This applies a total physical thrust acceleration magnitude of 1.5306e-06 m/s2, oriented toward an azimuth of 54.3 degrees and an elevation of -2.7 degrees."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1100"/>
              </a:spcAft>
              <a:buNone/>
            </a:pPr>
            <a:r>
              <a:rPr lang="en-US">
                <a:solidFill>
                  <a:schemeClr val="dk1"/>
                </a:solidFill>
              </a:rPr>
              <a:t>    }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27"/>
          <p:cNvSpPr/>
          <p:nvPr/>
        </p:nvSpPr>
        <p:spPr>
          <a:xfrm flipH="1" rot="10800000">
            <a:off x="0" y="6437102"/>
            <a:ext cx="12192000" cy="42090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27"/>
          <p:cNvSpPr txBox="1"/>
          <p:nvPr/>
        </p:nvSpPr>
        <p:spPr>
          <a:xfrm>
            <a:off x="376812" y="6524382"/>
            <a:ext cx="79914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lt1"/>
                </a:solidFill>
              </a:rPr>
              <a:t>ME 597 Independent Study</a:t>
            </a:r>
            <a:endParaRPr sz="1000">
              <a:solidFill>
                <a:schemeClr val="lt1"/>
              </a:solidFill>
            </a:endParaRPr>
          </a:p>
        </p:txBody>
      </p:sp>
      <p:sp>
        <p:nvSpPr>
          <p:cNvPr id="249" name="Google Shape;249;p27"/>
          <p:cNvSpPr txBox="1"/>
          <p:nvPr/>
        </p:nvSpPr>
        <p:spPr>
          <a:xfrm>
            <a:off x="9335603" y="6524381"/>
            <a:ext cx="24735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250" name="Google Shape;250;p27"/>
          <p:cNvSpPr/>
          <p:nvPr/>
        </p:nvSpPr>
        <p:spPr>
          <a:xfrm flipH="1" rot="10800000">
            <a:off x="0" y="23"/>
            <a:ext cx="12192000" cy="86820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close up of a logo&#10;&#10;Description automatically generated" id="251" name="Google Shape;251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554209" y="228018"/>
            <a:ext cx="277907" cy="401420"/>
          </a:xfrm>
          <a:prstGeom prst="rect">
            <a:avLst/>
          </a:prstGeom>
          <a:noFill/>
          <a:ln>
            <a:noFill/>
          </a:ln>
        </p:spPr>
      </p:pic>
      <p:sp>
        <p:nvSpPr>
          <p:cNvPr id="252" name="Google Shape;252;p27"/>
          <p:cNvSpPr txBox="1"/>
          <p:nvPr/>
        </p:nvSpPr>
        <p:spPr>
          <a:xfrm>
            <a:off x="376809" y="204053"/>
            <a:ext cx="10910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2800">
                <a:solidFill>
                  <a:schemeClr val="lt1"/>
                </a:solidFill>
              </a:rPr>
              <a:t>Dataset Verification</a:t>
            </a:r>
            <a:endParaRPr sz="2800">
              <a:solidFill>
                <a:schemeClr val="lt1"/>
              </a:solidFill>
            </a:endParaRPr>
          </a:p>
        </p:txBody>
      </p:sp>
      <p:sp>
        <p:nvSpPr>
          <p:cNvPr id="253" name="Google Shape;253;p27"/>
          <p:cNvSpPr txBox="1"/>
          <p:nvPr>
            <p:ph idx="1" type="body"/>
          </p:nvPr>
        </p:nvSpPr>
        <p:spPr>
          <a:xfrm>
            <a:off x="486525" y="1188175"/>
            <a:ext cx="5961300" cy="4741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Verification of Demonstration Quality</a:t>
            </a:r>
            <a:endParaRPr b="1" sz="18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Verification 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reconstructs trajectories from JSONL data and compares them against original PID-like simulations.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SzPts val="1800"/>
              <a:buChar char="●"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Mean discrepancy: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 0.03 km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Median discrepancy: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 0.01 km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Maximum discrepancy: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 3.87 km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1100"/>
              </a:spcAft>
              <a:buClr>
                <a:schemeClr val="dk1"/>
              </a:buClr>
              <a:buSzPts val="1100"/>
              <a:buNone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Conclusion:</a:t>
            </a:r>
            <a:br>
              <a:rPr b="1" lang="en-US" sz="1800">
                <a:latin typeface="Arial"/>
                <a:ea typeface="Arial"/>
                <a:cs typeface="Arial"/>
                <a:sym typeface="Arial"/>
              </a:rPr>
            </a:br>
            <a:r>
              <a:rPr lang="en-US" sz="1800">
                <a:latin typeface="Arial"/>
                <a:ea typeface="Arial"/>
                <a:cs typeface="Arial"/>
                <a:sym typeface="Arial"/>
              </a:rPr>
              <a:t>The dataset accurately preserves the PID-like guidance behavior used for training.</a:t>
            </a:r>
            <a:endParaRPr sz="1800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54" name="Google Shape;254;p27" title="verified_trajectories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787325" y="1766523"/>
            <a:ext cx="5021778" cy="3324966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28"/>
          <p:cNvSpPr/>
          <p:nvPr/>
        </p:nvSpPr>
        <p:spPr>
          <a:xfrm flipH="1" rot="10800000">
            <a:off x="-1" y="64"/>
            <a:ext cx="12192000" cy="686610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building, street&#10;&#10;Description automatically generated" id="261" name="Google Shape;261;p28"/>
          <p:cNvPicPr preferRelativeResize="0"/>
          <p:nvPr/>
        </p:nvPicPr>
        <p:blipFill rotWithShape="1">
          <a:blip r:embed="rId3">
            <a:alphaModFix amt="25000"/>
          </a:blip>
          <a:srcRect b="0" l="0" r="0" t="0"/>
          <a:stretch/>
        </p:blipFill>
        <p:spPr>
          <a:xfrm>
            <a:off x="-2" y="8165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28"/>
          <p:cNvSpPr txBox="1"/>
          <p:nvPr/>
        </p:nvSpPr>
        <p:spPr>
          <a:xfrm>
            <a:off x="1133991" y="2532942"/>
            <a:ext cx="9924000" cy="113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4500">
                <a:solidFill>
                  <a:schemeClr val="lt1"/>
                </a:solidFill>
              </a:rPr>
              <a:t>LLM Training Performance</a:t>
            </a:r>
            <a:endParaRPr b="0" i="0" sz="4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picture containing drawing&#10;&#10;Description automatically generated" id="263" name="Google Shape;263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081137" y="5864575"/>
            <a:ext cx="2909984" cy="75408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29"/>
          <p:cNvSpPr/>
          <p:nvPr/>
        </p:nvSpPr>
        <p:spPr>
          <a:xfrm flipH="1" rot="10800000">
            <a:off x="0" y="6437102"/>
            <a:ext cx="12192000" cy="42090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29"/>
          <p:cNvSpPr txBox="1"/>
          <p:nvPr/>
        </p:nvSpPr>
        <p:spPr>
          <a:xfrm>
            <a:off x="376812" y="6524382"/>
            <a:ext cx="79914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lt1"/>
                </a:solidFill>
              </a:rPr>
              <a:t>ME 597 Independent Study</a:t>
            </a:r>
            <a:endParaRPr sz="1000">
              <a:solidFill>
                <a:schemeClr val="lt1"/>
              </a:solidFill>
            </a:endParaRPr>
          </a:p>
        </p:txBody>
      </p:sp>
      <p:sp>
        <p:nvSpPr>
          <p:cNvPr id="270" name="Google Shape;270;p29"/>
          <p:cNvSpPr txBox="1"/>
          <p:nvPr/>
        </p:nvSpPr>
        <p:spPr>
          <a:xfrm>
            <a:off x="9335603" y="6524381"/>
            <a:ext cx="24735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271" name="Google Shape;271;p29"/>
          <p:cNvSpPr/>
          <p:nvPr/>
        </p:nvSpPr>
        <p:spPr>
          <a:xfrm flipH="1" rot="10800000">
            <a:off x="0" y="23"/>
            <a:ext cx="12192000" cy="86820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close up of a logo&#10;&#10;Description automatically generated" id="272" name="Google Shape;272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554209" y="228018"/>
            <a:ext cx="277907" cy="401420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29"/>
          <p:cNvSpPr txBox="1"/>
          <p:nvPr/>
        </p:nvSpPr>
        <p:spPr>
          <a:xfrm>
            <a:off x="376809" y="204053"/>
            <a:ext cx="10910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2800">
                <a:solidFill>
                  <a:schemeClr val="lt1"/>
                </a:solidFill>
              </a:rPr>
              <a:t>Model Fine-Tuning</a:t>
            </a:r>
            <a:endParaRPr sz="2800">
              <a:solidFill>
                <a:schemeClr val="lt1"/>
              </a:solidFill>
            </a:endParaRPr>
          </a:p>
        </p:txBody>
      </p:sp>
      <p:sp>
        <p:nvSpPr>
          <p:cNvPr id="274" name="Google Shape;274;p29"/>
          <p:cNvSpPr txBox="1"/>
          <p:nvPr>
            <p:ph idx="1" type="body"/>
          </p:nvPr>
        </p:nvSpPr>
        <p:spPr>
          <a:xfrm>
            <a:off x="486525" y="1188175"/>
            <a:ext cx="10225500" cy="4741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Fine-Tuning Llama 3.1 8B Instruct for Spacecraft Guidance</a:t>
            </a:r>
            <a:endParaRPr b="1" sz="18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The pretrained foundation model is adapted to reproduce the adaptive PID-like guidance policy.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Learning Objective</a:t>
            </a:r>
            <a:endParaRPr b="1" sz="18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πFM:(x,xref,xerr,m,p)→u\pi_{FM}:(x,x_{ref},x_{err},m,p)\rightarrow uπFM​:(x,xref​,xerr​,m,p)→u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where: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SzPts val="1800"/>
              <a:buChar char="●"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x: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 Current spacecraft state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x</a:t>
            </a:r>
            <a:r>
              <a:rPr b="1" baseline="-25000" lang="en-US" sz="1800">
                <a:latin typeface="Arial"/>
                <a:ea typeface="Arial"/>
                <a:cs typeface="Arial"/>
                <a:sym typeface="Arial"/>
              </a:rPr>
              <a:t>ref</a:t>
            </a: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: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 Desired reference trajectory state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x</a:t>
            </a:r>
            <a:r>
              <a:rPr b="1" baseline="-25000" lang="en-US" sz="1800">
                <a:latin typeface="Arial"/>
                <a:ea typeface="Arial"/>
                <a:cs typeface="Arial"/>
                <a:sym typeface="Arial"/>
              </a:rPr>
              <a:t>err</a:t>
            </a: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: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 Tracking error information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m: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 Mission context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p: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 Mission progress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u: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 Continuous three-axis acceleration command</a:t>
            </a:r>
            <a:endParaRPr sz="1800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0"/>
          <p:cNvSpPr/>
          <p:nvPr/>
        </p:nvSpPr>
        <p:spPr>
          <a:xfrm flipH="1" rot="10800000">
            <a:off x="0" y="6437102"/>
            <a:ext cx="12192000" cy="42090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30"/>
          <p:cNvSpPr txBox="1"/>
          <p:nvPr/>
        </p:nvSpPr>
        <p:spPr>
          <a:xfrm>
            <a:off x="376812" y="6524382"/>
            <a:ext cx="79914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lt1"/>
                </a:solidFill>
              </a:rPr>
              <a:t>ME 597 Independent Study</a:t>
            </a:r>
            <a:endParaRPr sz="1000">
              <a:solidFill>
                <a:schemeClr val="lt1"/>
              </a:solidFill>
            </a:endParaRPr>
          </a:p>
        </p:txBody>
      </p:sp>
      <p:sp>
        <p:nvSpPr>
          <p:cNvPr id="281" name="Google Shape;281;p30"/>
          <p:cNvSpPr txBox="1"/>
          <p:nvPr/>
        </p:nvSpPr>
        <p:spPr>
          <a:xfrm>
            <a:off x="9335603" y="6524381"/>
            <a:ext cx="24735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282" name="Google Shape;282;p30"/>
          <p:cNvSpPr/>
          <p:nvPr/>
        </p:nvSpPr>
        <p:spPr>
          <a:xfrm flipH="1" rot="10800000">
            <a:off x="0" y="23"/>
            <a:ext cx="12192000" cy="86820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close up of a logo&#10;&#10;Description automatically generated" id="283" name="Google Shape;283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554209" y="228018"/>
            <a:ext cx="277907" cy="401420"/>
          </a:xfrm>
          <a:prstGeom prst="rect">
            <a:avLst/>
          </a:prstGeom>
          <a:noFill/>
          <a:ln>
            <a:noFill/>
          </a:ln>
        </p:spPr>
      </p:pic>
      <p:sp>
        <p:nvSpPr>
          <p:cNvPr id="284" name="Google Shape;284;p30"/>
          <p:cNvSpPr txBox="1"/>
          <p:nvPr/>
        </p:nvSpPr>
        <p:spPr>
          <a:xfrm>
            <a:off x="376809" y="204053"/>
            <a:ext cx="10910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2800">
                <a:solidFill>
                  <a:schemeClr val="lt1"/>
                </a:solidFill>
              </a:rPr>
              <a:t>Training Methodology</a:t>
            </a:r>
            <a:endParaRPr sz="2800">
              <a:solidFill>
                <a:schemeClr val="lt1"/>
              </a:solidFill>
            </a:endParaRPr>
          </a:p>
        </p:txBody>
      </p:sp>
      <p:sp>
        <p:nvSpPr>
          <p:cNvPr id="285" name="Google Shape;285;p30"/>
          <p:cNvSpPr txBox="1"/>
          <p:nvPr>
            <p:ph idx="1" type="body"/>
          </p:nvPr>
        </p:nvSpPr>
        <p:spPr>
          <a:xfrm>
            <a:off x="486525" y="1188175"/>
            <a:ext cx="5741400" cy="4741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Supervised Instruction Fine-Tuning</a:t>
            </a:r>
            <a:endParaRPr b="1" sz="18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Each trajectory sample is formatted as: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User Prompt</a:t>
            </a:r>
            <a:endParaRPr b="1"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Describes spacecraft position and velocity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Provides reference trajectory information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Includes tracking error and mission objective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Assistant Response</a:t>
            </a:r>
            <a:endParaRPr b="1"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Outputs required acceleration vector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Includes physical and canonical units</a:t>
            </a:r>
            <a:endParaRPr sz="18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6" name="Google Shape;286;p30"/>
          <p:cNvSpPr txBox="1"/>
          <p:nvPr/>
        </p:nvSpPr>
        <p:spPr>
          <a:xfrm>
            <a:off x="5810250" y="1179625"/>
            <a:ext cx="6411300" cy="421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800">
                <a:solidFill>
                  <a:schemeClr val="dk1"/>
                </a:solidFill>
              </a:rPr>
              <a:t>Optimization:</a:t>
            </a:r>
            <a:endParaRPr b="1" sz="1800">
              <a:solidFill>
                <a:schemeClr val="dk1"/>
              </a:solidFill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>
                <a:solidFill>
                  <a:schemeClr val="dk1"/>
                </a:solidFill>
              </a:rPr>
              <a:t>Hugging Face SFTTrainer</a:t>
            </a:r>
            <a:endParaRPr sz="1800">
              <a:solidFill>
                <a:schemeClr val="dk1"/>
              </a:solidFill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>
                <a:solidFill>
                  <a:schemeClr val="dk1"/>
                </a:solidFill>
              </a:rPr>
              <a:t>Causal language-modeling objective</a:t>
            </a:r>
            <a:endParaRPr sz="1800">
              <a:solidFill>
                <a:schemeClr val="dk1"/>
              </a:solidFill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>
                <a:solidFill>
                  <a:schemeClr val="dk1"/>
                </a:solidFill>
              </a:rPr>
              <a:t>Loss computed </a:t>
            </a:r>
            <a:r>
              <a:rPr b="1" lang="en-US" sz="1800">
                <a:solidFill>
                  <a:schemeClr val="dk1"/>
                </a:solidFill>
              </a:rPr>
              <a:t>only on completion tokens</a:t>
            </a:r>
            <a:endParaRPr b="1" sz="1800">
              <a:solidFill>
                <a:schemeClr val="dk1"/>
              </a:solidFill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>
                <a:solidFill>
                  <a:schemeClr val="dk1"/>
                </a:solidFill>
              </a:rPr>
              <a:t>Prompt tokens excluded using response-template masking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800">
                <a:solidFill>
                  <a:schemeClr val="dk1"/>
                </a:solidFill>
              </a:rPr>
              <a:t>Key Point:</a:t>
            </a:r>
            <a:br>
              <a:rPr b="1" lang="en-US" sz="1800">
                <a:solidFill>
                  <a:schemeClr val="dk1"/>
                </a:solidFill>
              </a:rPr>
            </a:br>
            <a:r>
              <a:rPr lang="en-US" sz="1800">
                <a:solidFill>
                  <a:schemeClr val="dk1"/>
                </a:solidFill>
              </a:rPr>
              <a:t> The model learns to reproduce control decisions, not directly minimize spacecraft trajectory error.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10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31"/>
          <p:cNvSpPr/>
          <p:nvPr/>
        </p:nvSpPr>
        <p:spPr>
          <a:xfrm flipH="1" rot="10800000">
            <a:off x="0" y="6437102"/>
            <a:ext cx="12192000" cy="42090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31"/>
          <p:cNvSpPr txBox="1"/>
          <p:nvPr/>
        </p:nvSpPr>
        <p:spPr>
          <a:xfrm>
            <a:off x="376812" y="6524382"/>
            <a:ext cx="79914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lt1"/>
                </a:solidFill>
              </a:rPr>
              <a:t>ME 597 Independent Study</a:t>
            </a:r>
            <a:endParaRPr sz="1000">
              <a:solidFill>
                <a:schemeClr val="lt1"/>
              </a:solidFill>
            </a:endParaRPr>
          </a:p>
        </p:txBody>
      </p:sp>
      <p:sp>
        <p:nvSpPr>
          <p:cNvPr id="293" name="Google Shape;293;p31"/>
          <p:cNvSpPr txBox="1"/>
          <p:nvPr/>
        </p:nvSpPr>
        <p:spPr>
          <a:xfrm>
            <a:off x="9335603" y="6524381"/>
            <a:ext cx="24735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294" name="Google Shape;294;p31"/>
          <p:cNvSpPr/>
          <p:nvPr/>
        </p:nvSpPr>
        <p:spPr>
          <a:xfrm flipH="1" rot="10800000">
            <a:off x="0" y="23"/>
            <a:ext cx="12192000" cy="86820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close up of a logo&#10;&#10;Description automatically generated" id="295" name="Google Shape;295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554209" y="228018"/>
            <a:ext cx="277907" cy="401420"/>
          </a:xfrm>
          <a:prstGeom prst="rect">
            <a:avLst/>
          </a:prstGeom>
          <a:noFill/>
          <a:ln>
            <a:noFill/>
          </a:ln>
        </p:spPr>
      </p:pic>
      <p:sp>
        <p:nvSpPr>
          <p:cNvPr id="296" name="Google Shape;296;p31"/>
          <p:cNvSpPr txBox="1"/>
          <p:nvPr/>
        </p:nvSpPr>
        <p:spPr>
          <a:xfrm>
            <a:off x="376809" y="204053"/>
            <a:ext cx="10910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2800">
                <a:solidFill>
                  <a:schemeClr val="lt1"/>
                </a:solidFill>
              </a:rPr>
              <a:t>Training Configuration and Convergence</a:t>
            </a:r>
            <a:endParaRPr sz="2800">
              <a:solidFill>
                <a:schemeClr val="lt1"/>
              </a:solidFill>
            </a:endParaRPr>
          </a:p>
        </p:txBody>
      </p:sp>
      <p:sp>
        <p:nvSpPr>
          <p:cNvPr id="297" name="Google Shape;297;p31"/>
          <p:cNvSpPr txBox="1"/>
          <p:nvPr>
            <p:ph idx="1" type="body"/>
          </p:nvPr>
        </p:nvSpPr>
        <p:spPr>
          <a:xfrm>
            <a:off x="486525" y="1034310"/>
            <a:ext cx="6561900" cy="5248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Fine-Tuning Configuration</a:t>
            </a:r>
            <a:endParaRPr b="1"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SzPts val="1800"/>
              <a:buChar char="●"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Dataset: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 1,311,089 samples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Train/Evaluation Split: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 95% / 5%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Maximum Sequence Length: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 512 tokens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Learning Rate: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 \(2\times10^{-4}\)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Effective Batch Size: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 32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Precision: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 bfloat16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Training: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 2.57 epochs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Training Behavior:</a:t>
            </a:r>
            <a:endParaRPr b="1"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Stable loss decrease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No evidence of significant overfitting: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Training Loss Fit: R2 = 0.9552 with an estimated asymptotic limit of 0.1495.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Evaluation Loss Fit: R2 = 0.9926 with an estimated asymptotic limit of 0.1466.</a:t>
            </a:r>
            <a:endParaRPr sz="1800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98" name="Google Shape;298;p31" title="metric_eval_loss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995699" y="3665010"/>
            <a:ext cx="4291195" cy="26694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99" name="Google Shape;299;p31" title="metric_train_loss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048442" y="995258"/>
            <a:ext cx="4185713" cy="26037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32"/>
          <p:cNvSpPr/>
          <p:nvPr/>
        </p:nvSpPr>
        <p:spPr>
          <a:xfrm flipH="1" rot="10800000">
            <a:off x="0" y="6437102"/>
            <a:ext cx="12192000" cy="42090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32"/>
          <p:cNvSpPr txBox="1"/>
          <p:nvPr/>
        </p:nvSpPr>
        <p:spPr>
          <a:xfrm>
            <a:off x="376812" y="6524382"/>
            <a:ext cx="79914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lt1"/>
                </a:solidFill>
              </a:rPr>
              <a:t>ME 597 Independent Study</a:t>
            </a:r>
            <a:endParaRPr sz="1000">
              <a:solidFill>
                <a:schemeClr val="lt1"/>
              </a:solidFill>
            </a:endParaRPr>
          </a:p>
        </p:txBody>
      </p:sp>
      <p:sp>
        <p:nvSpPr>
          <p:cNvPr id="306" name="Google Shape;306;p32"/>
          <p:cNvSpPr txBox="1"/>
          <p:nvPr/>
        </p:nvSpPr>
        <p:spPr>
          <a:xfrm>
            <a:off x="9335603" y="6524381"/>
            <a:ext cx="24735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307" name="Google Shape;307;p32"/>
          <p:cNvSpPr/>
          <p:nvPr/>
        </p:nvSpPr>
        <p:spPr>
          <a:xfrm flipH="1" rot="10800000">
            <a:off x="0" y="23"/>
            <a:ext cx="12192000" cy="86820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close up of a logo&#10;&#10;Description automatically generated" id="308" name="Google Shape;308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554209" y="228018"/>
            <a:ext cx="277907" cy="401420"/>
          </a:xfrm>
          <a:prstGeom prst="rect">
            <a:avLst/>
          </a:prstGeom>
          <a:noFill/>
          <a:ln>
            <a:noFill/>
          </a:ln>
        </p:spPr>
      </p:pic>
      <p:sp>
        <p:nvSpPr>
          <p:cNvPr id="309" name="Google Shape;309;p32"/>
          <p:cNvSpPr txBox="1"/>
          <p:nvPr/>
        </p:nvSpPr>
        <p:spPr>
          <a:xfrm>
            <a:off x="376809" y="204053"/>
            <a:ext cx="10910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2800">
                <a:solidFill>
                  <a:schemeClr val="lt1"/>
                </a:solidFill>
              </a:rPr>
              <a:t>Fine-Tuning Performance</a:t>
            </a:r>
            <a:endParaRPr sz="2800">
              <a:solidFill>
                <a:schemeClr val="lt1"/>
              </a:solidFill>
            </a:endParaRPr>
          </a:p>
        </p:txBody>
      </p:sp>
      <p:sp>
        <p:nvSpPr>
          <p:cNvPr id="310" name="Google Shape;310;p32"/>
          <p:cNvSpPr txBox="1"/>
          <p:nvPr>
            <p:ph idx="1" type="body"/>
          </p:nvPr>
        </p:nvSpPr>
        <p:spPr>
          <a:xfrm>
            <a:off x="486525" y="1188175"/>
            <a:ext cx="6334800" cy="4741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Successful Language-Level Imitation</a:t>
            </a:r>
            <a:endParaRPr b="1" sz="18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Final Metrics:</a:t>
            </a:r>
            <a:endParaRPr b="1"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SzPts val="1800"/>
              <a:buChar char="●"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Training Loss: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 0.1526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Evaluation Loss: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 0.1509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Training Token Accuracy: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 95.91%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Evaluation Token Accuracy: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 95.99%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Interpretation:</a:t>
            </a:r>
            <a:endParaRPr b="1"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The model learned spacecraft-state descriptions.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The model learned mission-conditioned output structure.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The model reproduced the formatting and numerical patterns of PID-like commands.</a:t>
            </a:r>
            <a:endParaRPr sz="1800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11" name="Google Shape;311;p32" title="metric_train_mean_token_accuracy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973725" y="940610"/>
            <a:ext cx="4313175" cy="267888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2" name="Google Shape;312;p32" title="metric_eval_mean_token_accuracy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017687" y="3663450"/>
            <a:ext cx="4313175" cy="26788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33"/>
          <p:cNvSpPr/>
          <p:nvPr/>
        </p:nvSpPr>
        <p:spPr>
          <a:xfrm flipH="1" rot="10800000">
            <a:off x="-1" y="64"/>
            <a:ext cx="12192000" cy="686610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building, street&#10;&#10;Description automatically generated" id="319" name="Google Shape;319;p33"/>
          <p:cNvPicPr preferRelativeResize="0"/>
          <p:nvPr/>
        </p:nvPicPr>
        <p:blipFill rotWithShape="1">
          <a:blip r:embed="rId3">
            <a:alphaModFix amt="25000"/>
          </a:blip>
          <a:srcRect b="0" l="0" r="0" t="0"/>
          <a:stretch/>
        </p:blipFill>
        <p:spPr>
          <a:xfrm>
            <a:off x="-2" y="8165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33"/>
          <p:cNvSpPr txBox="1"/>
          <p:nvPr/>
        </p:nvSpPr>
        <p:spPr>
          <a:xfrm>
            <a:off x="1133991" y="2532942"/>
            <a:ext cx="9924000" cy="190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4500">
                <a:solidFill>
                  <a:schemeClr val="lt1"/>
                </a:solidFill>
              </a:rPr>
              <a:t>Closed-Loop LLM Evaluation</a:t>
            </a:r>
            <a:endParaRPr b="1" sz="4500">
              <a:solidFill>
                <a:schemeClr val="lt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1" sz="4500">
              <a:solidFill>
                <a:schemeClr val="lt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</a:endParaRPr>
          </a:p>
        </p:txBody>
      </p:sp>
      <p:pic>
        <p:nvPicPr>
          <p:cNvPr descr="A picture containing drawing&#10;&#10;Description automatically generated" id="321" name="Google Shape;321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081137" y="5864575"/>
            <a:ext cx="2909984" cy="75408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4"/>
          <p:cNvSpPr/>
          <p:nvPr/>
        </p:nvSpPr>
        <p:spPr>
          <a:xfrm flipH="1" rot="10800000">
            <a:off x="0" y="6437102"/>
            <a:ext cx="12192000" cy="42090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p34"/>
          <p:cNvSpPr txBox="1"/>
          <p:nvPr/>
        </p:nvSpPr>
        <p:spPr>
          <a:xfrm>
            <a:off x="376812" y="6524382"/>
            <a:ext cx="79914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lt1"/>
                </a:solidFill>
              </a:rPr>
              <a:t>ME 597 Independent Study</a:t>
            </a:r>
            <a:endParaRPr sz="1000">
              <a:solidFill>
                <a:schemeClr val="lt1"/>
              </a:solidFill>
            </a:endParaRPr>
          </a:p>
        </p:txBody>
      </p:sp>
      <p:sp>
        <p:nvSpPr>
          <p:cNvPr id="328" name="Google Shape;328;p34"/>
          <p:cNvSpPr txBox="1"/>
          <p:nvPr/>
        </p:nvSpPr>
        <p:spPr>
          <a:xfrm>
            <a:off x="9335603" y="6524381"/>
            <a:ext cx="24735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329" name="Google Shape;329;p34"/>
          <p:cNvSpPr/>
          <p:nvPr/>
        </p:nvSpPr>
        <p:spPr>
          <a:xfrm flipH="1" rot="10800000">
            <a:off x="0" y="23"/>
            <a:ext cx="12192000" cy="86820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close up of a logo&#10;&#10;Description automatically generated" id="330" name="Google Shape;330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554209" y="228018"/>
            <a:ext cx="277907" cy="401420"/>
          </a:xfrm>
          <a:prstGeom prst="rect">
            <a:avLst/>
          </a:prstGeom>
          <a:noFill/>
          <a:ln>
            <a:noFill/>
          </a:ln>
        </p:spPr>
      </p:pic>
      <p:sp>
        <p:nvSpPr>
          <p:cNvPr id="331" name="Google Shape;331;p34"/>
          <p:cNvSpPr txBox="1"/>
          <p:nvPr/>
        </p:nvSpPr>
        <p:spPr>
          <a:xfrm>
            <a:off x="376809" y="204053"/>
            <a:ext cx="10910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2800">
                <a:solidFill>
                  <a:schemeClr val="lt1"/>
                </a:solidFill>
              </a:rPr>
              <a:t>Closed-Loop Evaluation Architecture</a:t>
            </a:r>
            <a:endParaRPr sz="2800">
              <a:solidFill>
                <a:schemeClr val="lt1"/>
              </a:solidFill>
            </a:endParaRPr>
          </a:p>
        </p:txBody>
      </p:sp>
      <p:sp>
        <p:nvSpPr>
          <p:cNvPr id="332" name="Google Shape;332;p34"/>
          <p:cNvSpPr txBox="1"/>
          <p:nvPr>
            <p:ph idx="1" type="body"/>
          </p:nvPr>
        </p:nvSpPr>
        <p:spPr>
          <a:xfrm>
            <a:off x="486525" y="1188175"/>
            <a:ext cx="10225500" cy="5248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Deploying the LLM as a Spacecraft Feedback Controller</a:t>
            </a:r>
            <a:endParaRPr b="1" sz="18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The fine-tuned LLM is integrated directly into the spacecraft simulation loop.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Control Cycle</a:t>
            </a:r>
            <a:endParaRPr b="1"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Measure spacecraft state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Generate mission-aware prompt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Perform LLM inference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Extract acceleration command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Apply safety conditioning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Propagate disturbed CRTBP dynamics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Repeat guidance update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1100"/>
              </a:spcAft>
              <a:buClr>
                <a:schemeClr val="dk1"/>
              </a:buClr>
              <a:buSzPts val="1100"/>
              <a:buNone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Evaluation Goal:</a:t>
            </a:r>
            <a:br>
              <a:rPr b="1" lang="en-US" sz="1800">
                <a:latin typeface="Arial"/>
                <a:ea typeface="Arial"/>
                <a:cs typeface="Arial"/>
                <a:sym typeface="Arial"/>
              </a:rPr>
            </a:br>
            <a:r>
              <a:rPr lang="en-US" sz="1800">
                <a:latin typeface="Arial"/>
                <a:ea typeface="Arial"/>
                <a:cs typeface="Arial"/>
                <a:sym typeface="Arial"/>
              </a:rPr>
              <a:t>Determine whether learned language-based guidance reproduces closed-loop PID-like controller behavior.</a:t>
            </a:r>
            <a:endParaRPr sz="1800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35"/>
          <p:cNvSpPr/>
          <p:nvPr/>
        </p:nvSpPr>
        <p:spPr>
          <a:xfrm flipH="1" rot="10800000">
            <a:off x="0" y="6437102"/>
            <a:ext cx="12192000" cy="42090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35"/>
          <p:cNvSpPr txBox="1"/>
          <p:nvPr/>
        </p:nvSpPr>
        <p:spPr>
          <a:xfrm>
            <a:off x="376812" y="6524382"/>
            <a:ext cx="79914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lt1"/>
                </a:solidFill>
              </a:rPr>
              <a:t>ME 597 Independent Study</a:t>
            </a:r>
            <a:endParaRPr sz="1000">
              <a:solidFill>
                <a:schemeClr val="lt1"/>
              </a:solidFill>
            </a:endParaRPr>
          </a:p>
        </p:txBody>
      </p:sp>
      <p:sp>
        <p:nvSpPr>
          <p:cNvPr id="339" name="Google Shape;339;p35"/>
          <p:cNvSpPr txBox="1"/>
          <p:nvPr/>
        </p:nvSpPr>
        <p:spPr>
          <a:xfrm>
            <a:off x="9335603" y="6524381"/>
            <a:ext cx="24735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340" name="Google Shape;340;p35"/>
          <p:cNvSpPr/>
          <p:nvPr/>
        </p:nvSpPr>
        <p:spPr>
          <a:xfrm flipH="1" rot="10800000">
            <a:off x="0" y="23"/>
            <a:ext cx="12192000" cy="86820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close up of a logo&#10;&#10;Description automatically generated" id="341" name="Google Shape;341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554209" y="228018"/>
            <a:ext cx="277907" cy="401420"/>
          </a:xfrm>
          <a:prstGeom prst="rect">
            <a:avLst/>
          </a:prstGeom>
          <a:noFill/>
          <a:ln>
            <a:noFill/>
          </a:ln>
        </p:spPr>
      </p:pic>
      <p:sp>
        <p:nvSpPr>
          <p:cNvPr id="342" name="Google Shape;342;p35"/>
          <p:cNvSpPr txBox="1"/>
          <p:nvPr/>
        </p:nvSpPr>
        <p:spPr>
          <a:xfrm>
            <a:off x="376809" y="204053"/>
            <a:ext cx="10910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2800">
                <a:solidFill>
                  <a:schemeClr val="lt1"/>
                </a:solidFill>
              </a:rPr>
              <a:t>LLM Command Processing and Safety Conditioning</a:t>
            </a:r>
            <a:endParaRPr sz="2800">
              <a:solidFill>
                <a:schemeClr val="lt1"/>
              </a:solidFill>
            </a:endParaRPr>
          </a:p>
        </p:txBody>
      </p:sp>
      <p:sp>
        <p:nvSpPr>
          <p:cNvPr id="343" name="Google Shape;343;p35"/>
          <p:cNvSpPr txBox="1"/>
          <p:nvPr>
            <p:ph idx="1" type="body"/>
          </p:nvPr>
        </p:nvSpPr>
        <p:spPr>
          <a:xfrm>
            <a:off x="486525" y="1188175"/>
            <a:ext cx="10225500" cy="4741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Converting Text Output into Physical Control</a:t>
            </a:r>
            <a:endParaRPr b="1" sz="18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The generated response passes through: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SzPts val="1800"/>
              <a:buChar char="●"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Command Parsing: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 Extract X, Y, and Z acceleration components.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Validation: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 Enforce physical acceleration limits.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Fallback Handling: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 Maintain previous valid command if parsing fails.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Smoothing: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 Apply exponential filtering.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Rate Limiting: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 Restrict rapid command changes.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Maximum acceleration constraint: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∣∣u∣∣≤0.01 m/s2||u||\leq0.01~m/s^2∣∣u∣∣≤0.01 m/s2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1100"/>
              </a:spcAft>
              <a:buClr>
                <a:schemeClr val="dk1"/>
              </a:buClr>
              <a:buSzPts val="1100"/>
              <a:buNone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Important:</a:t>
            </a:r>
            <a:br>
              <a:rPr b="1" lang="en-US" sz="1800">
                <a:latin typeface="Arial"/>
                <a:ea typeface="Arial"/>
                <a:cs typeface="Arial"/>
                <a:sym typeface="Arial"/>
              </a:rPr>
            </a:br>
            <a:r>
              <a:rPr lang="en-US" sz="1800">
                <a:latin typeface="Arial"/>
                <a:ea typeface="Arial"/>
                <a:cs typeface="Arial"/>
                <a:sym typeface="Arial"/>
              </a:rPr>
              <a:t>Safety conditioning prevents invalid commands but does not stabilize incorrect predictions.</a:t>
            </a:r>
            <a:endParaRPr sz="1800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36"/>
          <p:cNvSpPr/>
          <p:nvPr/>
        </p:nvSpPr>
        <p:spPr>
          <a:xfrm flipH="1" rot="10800000">
            <a:off x="0" y="6437102"/>
            <a:ext cx="12192000" cy="42090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36"/>
          <p:cNvSpPr txBox="1"/>
          <p:nvPr/>
        </p:nvSpPr>
        <p:spPr>
          <a:xfrm>
            <a:off x="376812" y="6524382"/>
            <a:ext cx="79914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lt1"/>
                </a:solidFill>
              </a:rPr>
              <a:t>ME 597 Independent Study</a:t>
            </a:r>
            <a:endParaRPr sz="1000">
              <a:solidFill>
                <a:schemeClr val="lt1"/>
              </a:solidFill>
            </a:endParaRPr>
          </a:p>
        </p:txBody>
      </p:sp>
      <p:sp>
        <p:nvSpPr>
          <p:cNvPr id="350" name="Google Shape;350;p36"/>
          <p:cNvSpPr txBox="1"/>
          <p:nvPr/>
        </p:nvSpPr>
        <p:spPr>
          <a:xfrm>
            <a:off x="9335603" y="6524381"/>
            <a:ext cx="24735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351" name="Google Shape;351;p36"/>
          <p:cNvSpPr/>
          <p:nvPr/>
        </p:nvSpPr>
        <p:spPr>
          <a:xfrm flipH="1" rot="10800000">
            <a:off x="0" y="23"/>
            <a:ext cx="12192000" cy="86820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close up of a logo&#10;&#10;Description automatically generated" id="352" name="Google Shape;352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554209" y="228018"/>
            <a:ext cx="277907" cy="401420"/>
          </a:xfrm>
          <a:prstGeom prst="rect">
            <a:avLst/>
          </a:prstGeom>
          <a:noFill/>
          <a:ln>
            <a:noFill/>
          </a:ln>
        </p:spPr>
      </p:pic>
      <p:sp>
        <p:nvSpPr>
          <p:cNvPr id="353" name="Google Shape;353;p36"/>
          <p:cNvSpPr txBox="1"/>
          <p:nvPr/>
        </p:nvSpPr>
        <p:spPr>
          <a:xfrm>
            <a:off x="376809" y="204053"/>
            <a:ext cx="10910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2800">
                <a:solidFill>
                  <a:schemeClr val="lt1"/>
                </a:solidFill>
              </a:rPr>
              <a:t>Closed-Loop Evaluation Setup</a:t>
            </a:r>
            <a:endParaRPr sz="2800">
              <a:solidFill>
                <a:schemeClr val="lt1"/>
              </a:solidFill>
            </a:endParaRPr>
          </a:p>
        </p:txBody>
      </p:sp>
      <p:sp>
        <p:nvSpPr>
          <p:cNvPr id="354" name="Google Shape;354;p36"/>
          <p:cNvSpPr txBox="1"/>
          <p:nvPr>
            <p:ph idx="1" type="body"/>
          </p:nvPr>
        </p:nvSpPr>
        <p:spPr>
          <a:xfrm>
            <a:off x="486525" y="1188175"/>
            <a:ext cx="10225500" cy="4741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Testing Across Cislunar Mission Classes</a:t>
            </a:r>
            <a:endParaRPr b="1" sz="18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The LLM controller was evaluated on: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Earth Orbit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Moon Orbit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Earth–Moon Transfer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L1/L2 Halo Orbits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Distant Retrograde Orbit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Simulation Conditions:</a:t>
            </a:r>
            <a:endParaRPr b="1"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Same disturbance model as training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Injected position and velocity perturbation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Sampled-data LLM control updates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Continuous nonlinear CRTBP propagation</a:t>
            </a:r>
            <a:endParaRPr sz="18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5" name="Google Shape;355;p36"/>
          <p:cNvSpPr txBox="1"/>
          <p:nvPr/>
        </p:nvSpPr>
        <p:spPr>
          <a:xfrm>
            <a:off x="5692869" y="1188175"/>
            <a:ext cx="6191400" cy="227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800">
                <a:solidFill>
                  <a:schemeClr val="dk1"/>
                </a:solidFill>
              </a:rPr>
              <a:t>Metrics:</a:t>
            </a:r>
            <a:endParaRPr b="1" sz="1800">
              <a:solidFill>
                <a:schemeClr val="dk1"/>
              </a:solidFill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>
                <a:solidFill>
                  <a:schemeClr val="dk1"/>
                </a:solidFill>
              </a:rPr>
              <a:t>Position error</a:t>
            </a:r>
            <a:endParaRPr sz="1800">
              <a:solidFill>
                <a:schemeClr val="dk1"/>
              </a:solidFill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>
                <a:solidFill>
                  <a:schemeClr val="dk1"/>
                </a:solidFill>
              </a:rPr>
              <a:t>Velocity error</a:t>
            </a:r>
            <a:endParaRPr sz="1800">
              <a:solidFill>
                <a:schemeClr val="dk1"/>
              </a:solidFill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>
                <a:solidFill>
                  <a:schemeClr val="dk1"/>
                </a:solidFill>
              </a:rPr>
              <a:t>Acceleration magnitude</a:t>
            </a:r>
            <a:endParaRPr sz="1800">
              <a:solidFill>
                <a:schemeClr val="dk1"/>
              </a:solidFill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>
                <a:solidFill>
                  <a:schemeClr val="dk1"/>
                </a:solidFill>
              </a:rPr>
              <a:t>Total ΔV</a:t>
            </a:r>
            <a:endParaRPr sz="1800">
              <a:solidFill>
                <a:schemeClr val="dk1"/>
              </a:solidFill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>
                <a:solidFill>
                  <a:schemeClr val="dk1"/>
                </a:solidFill>
              </a:rPr>
              <a:t>Command validity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0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p37"/>
          <p:cNvSpPr/>
          <p:nvPr/>
        </p:nvSpPr>
        <p:spPr>
          <a:xfrm flipH="1" rot="10800000">
            <a:off x="-1" y="64"/>
            <a:ext cx="12192000" cy="686610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building, street&#10;&#10;Description automatically generated" id="362" name="Google Shape;362;p37"/>
          <p:cNvPicPr preferRelativeResize="0"/>
          <p:nvPr/>
        </p:nvPicPr>
        <p:blipFill rotWithShape="1">
          <a:blip r:embed="rId3">
            <a:alphaModFix amt="25000"/>
          </a:blip>
          <a:srcRect b="0" l="0" r="0" t="0"/>
          <a:stretch/>
        </p:blipFill>
        <p:spPr>
          <a:xfrm>
            <a:off x="-2" y="8165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63" name="Google Shape;363;p37"/>
          <p:cNvSpPr txBox="1"/>
          <p:nvPr/>
        </p:nvSpPr>
        <p:spPr>
          <a:xfrm>
            <a:off x="1133991" y="2532942"/>
            <a:ext cx="9924000" cy="113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4500">
                <a:solidFill>
                  <a:schemeClr val="lt1"/>
                </a:solidFill>
              </a:rPr>
              <a:t>LLM Performance</a:t>
            </a:r>
            <a:endParaRPr b="0" i="0" sz="4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picture containing drawing&#10;&#10;Description automatically generated" id="364" name="Google Shape;364;p3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081137" y="5864575"/>
            <a:ext cx="2909984" cy="75408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38"/>
          <p:cNvSpPr/>
          <p:nvPr/>
        </p:nvSpPr>
        <p:spPr>
          <a:xfrm flipH="1" rot="10800000">
            <a:off x="0" y="6437102"/>
            <a:ext cx="12192000" cy="42090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" name="Google Shape;370;p38"/>
          <p:cNvSpPr txBox="1"/>
          <p:nvPr/>
        </p:nvSpPr>
        <p:spPr>
          <a:xfrm>
            <a:off x="376812" y="6524382"/>
            <a:ext cx="79914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lt1"/>
                </a:solidFill>
              </a:rPr>
              <a:t>ME 597 Independent Study</a:t>
            </a:r>
            <a:endParaRPr sz="1000">
              <a:solidFill>
                <a:schemeClr val="lt1"/>
              </a:solidFill>
            </a:endParaRPr>
          </a:p>
        </p:txBody>
      </p:sp>
      <p:sp>
        <p:nvSpPr>
          <p:cNvPr id="371" name="Google Shape;371;p38"/>
          <p:cNvSpPr txBox="1"/>
          <p:nvPr/>
        </p:nvSpPr>
        <p:spPr>
          <a:xfrm>
            <a:off x="9335603" y="6524381"/>
            <a:ext cx="24735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372" name="Google Shape;372;p38"/>
          <p:cNvSpPr/>
          <p:nvPr/>
        </p:nvSpPr>
        <p:spPr>
          <a:xfrm flipH="1" rot="10800000">
            <a:off x="0" y="23"/>
            <a:ext cx="12192000" cy="86820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close up of a logo&#10;&#10;Description automatically generated" id="373" name="Google Shape;373;p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554209" y="228018"/>
            <a:ext cx="277907" cy="401420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38"/>
          <p:cNvSpPr txBox="1"/>
          <p:nvPr/>
        </p:nvSpPr>
        <p:spPr>
          <a:xfrm>
            <a:off x="376809" y="204053"/>
            <a:ext cx="10910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2800">
                <a:solidFill>
                  <a:schemeClr val="lt1"/>
                </a:solidFill>
              </a:rPr>
              <a:t>LLM Closed-Loop Results</a:t>
            </a:r>
            <a:endParaRPr sz="2800">
              <a:solidFill>
                <a:schemeClr val="lt1"/>
              </a:solidFill>
            </a:endParaRPr>
          </a:p>
        </p:txBody>
      </p:sp>
      <p:sp>
        <p:nvSpPr>
          <p:cNvPr id="375" name="Google Shape;375;p38"/>
          <p:cNvSpPr txBox="1"/>
          <p:nvPr>
            <p:ph idx="1" type="body"/>
          </p:nvPr>
        </p:nvSpPr>
        <p:spPr>
          <a:xfrm>
            <a:off x="486525" y="1100250"/>
            <a:ext cx="5059800" cy="5337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Trajectory Tracking Performance</a:t>
            </a:r>
            <a:endParaRPr b="1" sz="18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Final position errors: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SzPts val="1800"/>
              <a:buChar char="●"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Earth Orbit: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 500 km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Moon Orbit: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 1338 km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Earth–Moon Transfer: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 189 km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L1 Halo: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 533 km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DRO: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 496 km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Observation:</a:t>
            </a:r>
            <a:endParaRPr b="1"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The LLM generated bounded and physically valid commands.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The spacecraft trajectories remained numerically bounded.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Tracking errors increased following disturbances.</a:t>
            </a:r>
            <a:endParaRPr sz="1800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76" name="Google Shape;376;p38" title="llm_multi_trajectory_summary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118000" y="1148399"/>
            <a:ext cx="6691098" cy="50085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0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1" name="Google Shape;381;p39" title="trajectory_animation_run_2.gif"/>
          <p:cNvPicPr preferRelativeResize="0"/>
          <p:nvPr/>
        </p:nvPicPr>
        <p:blipFill rotWithShape="1">
          <a:blip r:embed="rId3">
            <a:alphaModFix/>
          </a:blip>
          <a:srcRect b="0" l="19430" r="14415" t="0"/>
          <a:stretch/>
        </p:blipFill>
        <p:spPr>
          <a:xfrm>
            <a:off x="7599485" y="1026525"/>
            <a:ext cx="4343400" cy="5252274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p39"/>
          <p:cNvSpPr/>
          <p:nvPr/>
        </p:nvSpPr>
        <p:spPr>
          <a:xfrm flipH="1" rot="10800000">
            <a:off x="0" y="6437102"/>
            <a:ext cx="12192000" cy="42090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" name="Google Shape;383;p39"/>
          <p:cNvSpPr txBox="1"/>
          <p:nvPr/>
        </p:nvSpPr>
        <p:spPr>
          <a:xfrm>
            <a:off x="376812" y="6524382"/>
            <a:ext cx="79914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lt1"/>
                </a:solidFill>
              </a:rPr>
              <a:t>ME 597 Independent Study</a:t>
            </a:r>
            <a:endParaRPr sz="1000">
              <a:solidFill>
                <a:schemeClr val="lt1"/>
              </a:solidFill>
            </a:endParaRPr>
          </a:p>
        </p:txBody>
      </p:sp>
      <p:sp>
        <p:nvSpPr>
          <p:cNvPr id="384" name="Google Shape;384;p39"/>
          <p:cNvSpPr txBox="1"/>
          <p:nvPr/>
        </p:nvSpPr>
        <p:spPr>
          <a:xfrm>
            <a:off x="9335603" y="6524381"/>
            <a:ext cx="24735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385" name="Google Shape;385;p39"/>
          <p:cNvSpPr/>
          <p:nvPr/>
        </p:nvSpPr>
        <p:spPr>
          <a:xfrm flipH="1" rot="10800000">
            <a:off x="0" y="23"/>
            <a:ext cx="12192000" cy="86820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close up of a logo&#10;&#10;Description automatically generated" id="386" name="Google Shape;386;p3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554209" y="228018"/>
            <a:ext cx="277907" cy="401420"/>
          </a:xfrm>
          <a:prstGeom prst="rect">
            <a:avLst/>
          </a:prstGeom>
          <a:noFill/>
          <a:ln>
            <a:noFill/>
          </a:ln>
        </p:spPr>
      </p:pic>
      <p:sp>
        <p:nvSpPr>
          <p:cNvPr id="387" name="Google Shape;387;p39"/>
          <p:cNvSpPr txBox="1"/>
          <p:nvPr/>
        </p:nvSpPr>
        <p:spPr>
          <a:xfrm>
            <a:off x="376809" y="204053"/>
            <a:ext cx="10910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lt1"/>
                </a:solidFill>
              </a:rPr>
              <a:t>Trajectory 1 </a:t>
            </a:r>
            <a:r>
              <a:rPr lang="en-US" sz="2800">
                <a:solidFill>
                  <a:schemeClr val="lt1"/>
                </a:solidFill>
              </a:rPr>
              <a:t>Earth-Moon Transfer</a:t>
            </a:r>
            <a:endParaRPr sz="2800">
              <a:solidFill>
                <a:schemeClr val="lt1"/>
              </a:solidFill>
            </a:endParaRPr>
          </a:p>
        </p:txBody>
      </p:sp>
      <p:pic>
        <p:nvPicPr>
          <p:cNvPr id="388" name="Google Shape;388;p39" title="llm_trajectory_results_run_1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79099" y="982526"/>
            <a:ext cx="7071150" cy="52998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3" name="Google Shape;393;p40" title="trajectory_animation_run_3.gif"/>
          <p:cNvPicPr preferRelativeResize="0"/>
          <p:nvPr/>
        </p:nvPicPr>
        <p:blipFill rotWithShape="1">
          <a:blip r:embed="rId3">
            <a:alphaModFix/>
          </a:blip>
          <a:srcRect b="0" l="20494" r="11512" t="0"/>
          <a:stretch/>
        </p:blipFill>
        <p:spPr>
          <a:xfrm>
            <a:off x="7568708" y="950564"/>
            <a:ext cx="4443551" cy="5228349"/>
          </a:xfrm>
          <a:prstGeom prst="rect">
            <a:avLst/>
          </a:prstGeom>
          <a:noFill/>
          <a:ln>
            <a:noFill/>
          </a:ln>
        </p:spPr>
      </p:pic>
      <p:sp>
        <p:nvSpPr>
          <p:cNvPr id="394" name="Google Shape;394;p40"/>
          <p:cNvSpPr/>
          <p:nvPr/>
        </p:nvSpPr>
        <p:spPr>
          <a:xfrm flipH="1" rot="10800000">
            <a:off x="0" y="6437102"/>
            <a:ext cx="12192000" cy="42090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" name="Google Shape;395;p40"/>
          <p:cNvSpPr txBox="1"/>
          <p:nvPr/>
        </p:nvSpPr>
        <p:spPr>
          <a:xfrm>
            <a:off x="376812" y="6524382"/>
            <a:ext cx="79914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lt1"/>
                </a:solidFill>
              </a:rPr>
              <a:t>ME 597 Independent Study</a:t>
            </a:r>
            <a:endParaRPr sz="1000">
              <a:solidFill>
                <a:schemeClr val="lt1"/>
              </a:solidFill>
            </a:endParaRPr>
          </a:p>
        </p:txBody>
      </p:sp>
      <p:sp>
        <p:nvSpPr>
          <p:cNvPr id="396" name="Google Shape;396;p40"/>
          <p:cNvSpPr txBox="1"/>
          <p:nvPr/>
        </p:nvSpPr>
        <p:spPr>
          <a:xfrm>
            <a:off x="9335603" y="6524381"/>
            <a:ext cx="24735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397" name="Google Shape;397;p40"/>
          <p:cNvSpPr/>
          <p:nvPr/>
        </p:nvSpPr>
        <p:spPr>
          <a:xfrm flipH="1" rot="10800000">
            <a:off x="0" y="23"/>
            <a:ext cx="12192000" cy="86820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close up of a logo&#10;&#10;Description automatically generated" id="398" name="Google Shape;398;p4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554209" y="228018"/>
            <a:ext cx="277907" cy="401420"/>
          </a:xfrm>
          <a:prstGeom prst="rect">
            <a:avLst/>
          </a:prstGeom>
          <a:noFill/>
          <a:ln>
            <a:noFill/>
          </a:ln>
        </p:spPr>
      </p:pic>
      <p:sp>
        <p:nvSpPr>
          <p:cNvPr id="399" name="Google Shape;399;p40"/>
          <p:cNvSpPr txBox="1"/>
          <p:nvPr/>
        </p:nvSpPr>
        <p:spPr>
          <a:xfrm>
            <a:off x="376809" y="204053"/>
            <a:ext cx="10910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lt1"/>
                </a:solidFill>
              </a:rPr>
              <a:t>Trajectory 2 DRO</a:t>
            </a:r>
            <a:endParaRPr/>
          </a:p>
        </p:txBody>
      </p:sp>
      <p:pic>
        <p:nvPicPr>
          <p:cNvPr id="400" name="Google Shape;400;p40" title="llm_trajectory_results_run_2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14301" y="1026525"/>
            <a:ext cx="7016750" cy="52522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5" name="Google Shape;405;p41" title="trajectory_animation_run_1.gif"/>
          <p:cNvPicPr preferRelativeResize="0"/>
          <p:nvPr/>
        </p:nvPicPr>
        <p:blipFill rotWithShape="1">
          <a:blip r:embed="rId3">
            <a:alphaModFix/>
          </a:blip>
          <a:srcRect b="0" l="20446" r="13703" t="0"/>
          <a:stretch/>
        </p:blipFill>
        <p:spPr>
          <a:xfrm>
            <a:off x="7567735" y="932225"/>
            <a:ext cx="4362450" cy="5299899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41"/>
          <p:cNvSpPr/>
          <p:nvPr/>
        </p:nvSpPr>
        <p:spPr>
          <a:xfrm flipH="1" rot="10800000">
            <a:off x="0" y="6437102"/>
            <a:ext cx="12192000" cy="42090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41"/>
          <p:cNvSpPr txBox="1"/>
          <p:nvPr/>
        </p:nvSpPr>
        <p:spPr>
          <a:xfrm>
            <a:off x="376812" y="6524382"/>
            <a:ext cx="79914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lt1"/>
                </a:solidFill>
              </a:rPr>
              <a:t>ME 597 Independent Study</a:t>
            </a:r>
            <a:endParaRPr sz="1000">
              <a:solidFill>
                <a:schemeClr val="lt1"/>
              </a:solidFill>
            </a:endParaRPr>
          </a:p>
        </p:txBody>
      </p:sp>
      <p:sp>
        <p:nvSpPr>
          <p:cNvPr id="408" name="Google Shape;408;p41"/>
          <p:cNvSpPr txBox="1"/>
          <p:nvPr/>
        </p:nvSpPr>
        <p:spPr>
          <a:xfrm>
            <a:off x="9335603" y="6524381"/>
            <a:ext cx="24735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409" name="Google Shape;409;p41"/>
          <p:cNvSpPr/>
          <p:nvPr/>
        </p:nvSpPr>
        <p:spPr>
          <a:xfrm flipH="1" rot="10800000">
            <a:off x="0" y="23"/>
            <a:ext cx="12192000" cy="86820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close up of a logo&#10;&#10;Description automatically generated" id="410" name="Google Shape;410;p4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554209" y="228018"/>
            <a:ext cx="277907" cy="401420"/>
          </a:xfrm>
          <a:prstGeom prst="rect">
            <a:avLst/>
          </a:prstGeom>
          <a:noFill/>
          <a:ln>
            <a:noFill/>
          </a:ln>
        </p:spPr>
      </p:pic>
      <p:sp>
        <p:nvSpPr>
          <p:cNvPr id="411" name="Google Shape;411;p41"/>
          <p:cNvSpPr txBox="1"/>
          <p:nvPr/>
        </p:nvSpPr>
        <p:spPr>
          <a:xfrm>
            <a:off x="376809" y="204053"/>
            <a:ext cx="10910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lt1"/>
                </a:solidFill>
              </a:rPr>
              <a:t>Trajectory 3 </a:t>
            </a:r>
            <a:r>
              <a:rPr lang="en-US" sz="2800">
                <a:solidFill>
                  <a:schemeClr val="lt1"/>
                </a:solidFill>
              </a:rPr>
              <a:t>Earth Orbit </a:t>
            </a:r>
            <a:endParaRPr/>
          </a:p>
        </p:txBody>
      </p:sp>
      <p:pic>
        <p:nvPicPr>
          <p:cNvPr id="412" name="Google Shape;412;p41" title="llm_trajectory_results_run_3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88877" y="966835"/>
            <a:ext cx="7232276" cy="54065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42"/>
          <p:cNvSpPr/>
          <p:nvPr/>
        </p:nvSpPr>
        <p:spPr>
          <a:xfrm flipH="1" rot="10800000">
            <a:off x="0" y="6437102"/>
            <a:ext cx="12192000" cy="42090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42"/>
          <p:cNvSpPr txBox="1"/>
          <p:nvPr/>
        </p:nvSpPr>
        <p:spPr>
          <a:xfrm>
            <a:off x="376812" y="6524382"/>
            <a:ext cx="79914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lt1"/>
                </a:solidFill>
              </a:rPr>
              <a:t>ME 597 Independent Study</a:t>
            </a:r>
            <a:endParaRPr sz="1000">
              <a:solidFill>
                <a:schemeClr val="lt1"/>
              </a:solidFill>
            </a:endParaRPr>
          </a:p>
        </p:txBody>
      </p:sp>
      <p:sp>
        <p:nvSpPr>
          <p:cNvPr id="419" name="Google Shape;419;p42"/>
          <p:cNvSpPr txBox="1"/>
          <p:nvPr/>
        </p:nvSpPr>
        <p:spPr>
          <a:xfrm>
            <a:off x="9335603" y="6524381"/>
            <a:ext cx="24735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420" name="Google Shape;420;p42"/>
          <p:cNvSpPr/>
          <p:nvPr/>
        </p:nvSpPr>
        <p:spPr>
          <a:xfrm flipH="1" rot="10800000">
            <a:off x="0" y="23"/>
            <a:ext cx="12192000" cy="86820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close up of a logo&#10;&#10;Description automatically generated" id="421" name="Google Shape;421;p4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554209" y="228018"/>
            <a:ext cx="277907" cy="401420"/>
          </a:xfrm>
          <a:prstGeom prst="rect">
            <a:avLst/>
          </a:prstGeom>
          <a:noFill/>
          <a:ln>
            <a:noFill/>
          </a:ln>
        </p:spPr>
      </p:pic>
      <p:sp>
        <p:nvSpPr>
          <p:cNvPr id="422" name="Google Shape;422;p42"/>
          <p:cNvSpPr txBox="1"/>
          <p:nvPr/>
        </p:nvSpPr>
        <p:spPr>
          <a:xfrm>
            <a:off x="376809" y="204053"/>
            <a:ext cx="10910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lt1"/>
                </a:solidFill>
              </a:rPr>
              <a:t>Trajectory 4 L1 Halo</a:t>
            </a:r>
            <a:endParaRPr/>
          </a:p>
        </p:txBody>
      </p:sp>
      <p:pic>
        <p:nvPicPr>
          <p:cNvPr id="423" name="Google Shape;423;p42" title="llm_trajectory_results_run_4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020623"/>
            <a:ext cx="7037102" cy="5264082"/>
          </a:xfrm>
          <a:prstGeom prst="rect">
            <a:avLst/>
          </a:prstGeom>
          <a:noFill/>
          <a:ln>
            <a:noFill/>
          </a:ln>
        </p:spPr>
      </p:pic>
      <p:pic>
        <p:nvPicPr>
          <p:cNvPr id="424" name="Google Shape;424;p42" title="trajectory_animation_run_4.gif"/>
          <p:cNvPicPr preferRelativeResize="0"/>
          <p:nvPr/>
        </p:nvPicPr>
        <p:blipFill rotWithShape="1">
          <a:blip r:embed="rId5">
            <a:alphaModFix/>
          </a:blip>
          <a:srcRect b="0" l="17085" r="13350" t="0"/>
          <a:stretch/>
        </p:blipFill>
        <p:spPr>
          <a:xfrm>
            <a:off x="7359650" y="1026525"/>
            <a:ext cx="4533900" cy="52141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43"/>
          <p:cNvSpPr/>
          <p:nvPr/>
        </p:nvSpPr>
        <p:spPr>
          <a:xfrm flipH="1" rot="10800000">
            <a:off x="0" y="6437102"/>
            <a:ext cx="12192000" cy="42090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43"/>
          <p:cNvSpPr txBox="1"/>
          <p:nvPr/>
        </p:nvSpPr>
        <p:spPr>
          <a:xfrm>
            <a:off x="376812" y="6524382"/>
            <a:ext cx="79914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lt1"/>
                </a:solidFill>
              </a:rPr>
              <a:t>ME 597 Independent Study</a:t>
            </a:r>
            <a:endParaRPr sz="1000">
              <a:solidFill>
                <a:schemeClr val="lt1"/>
              </a:solidFill>
            </a:endParaRPr>
          </a:p>
        </p:txBody>
      </p:sp>
      <p:sp>
        <p:nvSpPr>
          <p:cNvPr id="431" name="Google Shape;431;p43"/>
          <p:cNvSpPr txBox="1"/>
          <p:nvPr/>
        </p:nvSpPr>
        <p:spPr>
          <a:xfrm>
            <a:off x="9335603" y="6524381"/>
            <a:ext cx="24735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432" name="Google Shape;432;p43"/>
          <p:cNvSpPr/>
          <p:nvPr/>
        </p:nvSpPr>
        <p:spPr>
          <a:xfrm flipH="1" rot="10800000">
            <a:off x="0" y="23"/>
            <a:ext cx="12192000" cy="86820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close up of a logo&#10;&#10;Description automatically generated" id="433" name="Google Shape;433;p4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554209" y="228018"/>
            <a:ext cx="277907" cy="401420"/>
          </a:xfrm>
          <a:prstGeom prst="rect">
            <a:avLst/>
          </a:prstGeom>
          <a:noFill/>
          <a:ln>
            <a:noFill/>
          </a:ln>
        </p:spPr>
      </p:pic>
      <p:sp>
        <p:nvSpPr>
          <p:cNvPr id="434" name="Google Shape;434;p43"/>
          <p:cNvSpPr txBox="1"/>
          <p:nvPr/>
        </p:nvSpPr>
        <p:spPr>
          <a:xfrm>
            <a:off x="376809" y="204053"/>
            <a:ext cx="10910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lt1"/>
                </a:solidFill>
              </a:rPr>
              <a:t>Trajectory 5 </a:t>
            </a:r>
            <a:r>
              <a:rPr lang="en-US" sz="2800">
                <a:solidFill>
                  <a:schemeClr val="lt1"/>
                </a:solidFill>
              </a:rPr>
              <a:t>Moon Orbit</a:t>
            </a:r>
            <a:endParaRPr/>
          </a:p>
        </p:txBody>
      </p:sp>
      <p:pic>
        <p:nvPicPr>
          <p:cNvPr id="435" name="Google Shape;435;p43" title="llm_trajectory_results_run_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33350" y="1020623"/>
            <a:ext cx="7032504" cy="5264077"/>
          </a:xfrm>
          <a:prstGeom prst="rect">
            <a:avLst/>
          </a:prstGeom>
          <a:noFill/>
          <a:ln>
            <a:noFill/>
          </a:ln>
        </p:spPr>
      </p:pic>
      <p:pic>
        <p:nvPicPr>
          <p:cNvPr id="436" name="Google Shape;436;p43" title="trajectory_animation_run_5.gif"/>
          <p:cNvPicPr preferRelativeResize="0"/>
          <p:nvPr/>
        </p:nvPicPr>
        <p:blipFill rotWithShape="1">
          <a:blip r:embed="rId5">
            <a:alphaModFix/>
          </a:blip>
          <a:srcRect b="0" l="17320" r="8852" t="0"/>
          <a:stretch/>
        </p:blipFill>
        <p:spPr>
          <a:xfrm>
            <a:off x="7054850" y="922975"/>
            <a:ext cx="5048250" cy="54704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1" name="Shape 4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p44"/>
          <p:cNvSpPr/>
          <p:nvPr/>
        </p:nvSpPr>
        <p:spPr>
          <a:xfrm flipH="1" rot="10800000">
            <a:off x="-1" y="64"/>
            <a:ext cx="12192000" cy="686610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building, street&#10;&#10;Description automatically generated" id="443" name="Google Shape;443;p44"/>
          <p:cNvPicPr preferRelativeResize="0"/>
          <p:nvPr/>
        </p:nvPicPr>
        <p:blipFill rotWithShape="1">
          <a:blip r:embed="rId3">
            <a:alphaModFix amt="25000"/>
          </a:blip>
          <a:srcRect b="0" l="0" r="0" t="0"/>
          <a:stretch/>
        </p:blipFill>
        <p:spPr>
          <a:xfrm>
            <a:off x="-2" y="8165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44" name="Google Shape;444;p44"/>
          <p:cNvSpPr txBox="1"/>
          <p:nvPr/>
        </p:nvSpPr>
        <p:spPr>
          <a:xfrm>
            <a:off x="1133991" y="2532942"/>
            <a:ext cx="9924000" cy="1554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4500">
                <a:solidFill>
                  <a:schemeClr val="lt1"/>
                </a:solidFill>
              </a:rPr>
              <a:t>Discussion and Future Work</a:t>
            </a:r>
            <a:endParaRPr b="1" sz="4500">
              <a:solidFill>
                <a:schemeClr val="lt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1" sz="4500">
              <a:solidFill>
                <a:schemeClr val="lt1"/>
              </a:solidFill>
            </a:endParaRPr>
          </a:p>
        </p:txBody>
      </p:sp>
      <p:pic>
        <p:nvPicPr>
          <p:cNvPr descr="A picture containing drawing&#10;&#10;Description automatically generated" id="445" name="Google Shape;445;p4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081137" y="5864575"/>
            <a:ext cx="2909984" cy="75408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9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Google Shape;450;p45"/>
          <p:cNvSpPr/>
          <p:nvPr/>
        </p:nvSpPr>
        <p:spPr>
          <a:xfrm flipH="1" rot="10800000">
            <a:off x="0" y="6437102"/>
            <a:ext cx="12192000" cy="42090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" name="Google Shape;451;p45"/>
          <p:cNvSpPr txBox="1"/>
          <p:nvPr/>
        </p:nvSpPr>
        <p:spPr>
          <a:xfrm>
            <a:off x="376812" y="6524382"/>
            <a:ext cx="79914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lt1"/>
                </a:solidFill>
              </a:rPr>
              <a:t>ME 597 Independent Study</a:t>
            </a:r>
            <a:endParaRPr sz="1000">
              <a:solidFill>
                <a:schemeClr val="lt1"/>
              </a:solidFill>
            </a:endParaRPr>
          </a:p>
        </p:txBody>
      </p:sp>
      <p:sp>
        <p:nvSpPr>
          <p:cNvPr id="452" name="Google Shape;452;p45"/>
          <p:cNvSpPr txBox="1"/>
          <p:nvPr/>
        </p:nvSpPr>
        <p:spPr>
          <a:xfrm>
            <a:off x="9335603" y="6524381"/>
            <a:ext cx="24735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453" name="Google Shape;453;p45"/>
          <p:cNvSpPr/>
          <p:nvPr/>
        </p:nvSpPr>
        <p:spPr>
          <a:xfrm flipH="1" rot="10800000">
            <a:off x="0" y="23"/>
            <a:ext cx="12192000" cy="86820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close up of a logo&#10;&#10;Description automatically generated" id="454" name="Google Shape;454;p4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554209" y="228018"/>
            <a:ext cx="277907" cy="401420"/>
          </a:xfrm>
          <a:prstGeom prst="rect">
            <a:avLst/>
          </a:prstGeom>
          <a:noFill/>
          <a:ln>
            <a:noFill/>
          </a:ln>
        </p:spPr>
      </p:pic>
      <p:sp>
        <p:nvSpPr>
          <p:cNvPr id="455" name="Google Shape;455;p45"/>
          <p:cNvSpPr txBox="1"/>
          <p:nvPr/>
        </p:nvSpPr>
        <p:spPr>
          <a:xfrm>
            <a:off x="376809" y="204053"/>
            <a:ext cx="10910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1100"/>
              </a:spcAft>
              <a:buSzPts val="1100"/>
              <a:buNone/>
            </a:pPr>
            <a:r>
              <a:rPr b="1" lang="en-US" sz="2800">
                <a:solidFill>
                  <a:schemeClr val="lt1"/>
                </a:solidFill>
              </a:rPr>
              <a:t>PID-like</a:t>
            </a:r>
            <a:r>
              <a:rPr b="1" lang="en-US" sz="2800">
                <a:solidFill>
                  <a:schemeClr val="lt1"/>
                </a:solidFill>
              </a:rPr>
              <a:t> VS LLM Control</a:t>
            </a:r>
            <a:endParaRPr sz="2800">
              <a:solidFill>
                <a:schemeClr val="lt1"/>
              </a:solidFill>
            </a:endParaRPr>
          </a:p>
        </p:txBody>
      </p:sp>
      <p:sp>
        <p:nvSpPr>
          <p:cNvPr id="456" name="Google Shape;456;p45"/>
          <p:cNvSpPr txBox="1"/>
          <p:nvPr>
            <p:ph idx="1" type="body"/>
          </p:nvPr>
        </p:nvSpPr>
        <p:spPr>
          <a:xfrm>
            <a:off x="486525" y="1056284"/>
            <a:ext cx="10225500" cy="511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PID-like Controller:</a:t>
            </a:r>
            <a:endParaRPr b="1"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Uses accumulated error history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Maintains an integral state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Adapts gains based on local instability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Continuously updates feedback behavior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LLM Controller:</a:t>
            </a:r>
            <a:endParaRPr b="1"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Uses instantaneous state information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Does not observe hidden controller states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Lacks explicit temporal memory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Uses lower-frequency sampled inference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1100"/>
              </a:spcAft>
              <a:buClr>
                <a:schemeClr val="dk1"/>
              </a:buClr>
              <a:buSzPts val="1100"/>
              <a:buNone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Main Finding:</a:t>
            </a:r>
            <a:br>
              <a:rPr b="1" lang="en-US" sz="1800">
                <a:latin typeface="Arial"/>
                <a:ea typeface="Arial"/>
                <a:cs typeface="Arial"/>
                <a:sym typeface="Arial"/>
              </a:rPr>
            </a:br>
            <a:r>
              <a:rPr lang="en-US" sz="1800">
                <a:latin typeface="Arial"/>
                <a:ea typeface="Arial"/>
                <a:cs typeface="Arial"/>
                <a:sym typeface="Arial"/>
              </a:rPr>
              <a:t>The language representation captured observable spacecraft conditions but did not encode the complete information structure governing adaptive control decisions.</a:t>
            </a:r>
            <a:endParaRPr sz="1800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0" name="Shape 4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Google Shape;461;p46"/>
          <p:cNvSpPr/>
          <p:nvPr/>
        </p:nvSpPr>
        <p:spPr>
          <a:xfrm flipH="1" rot="10800000">
            <a:off x="0" y="6437102"/>
            <a:ext cx="12192000" cy="42090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2" name="Google Shape;462;p46"/>
          <p:cNvSpPr txBox="1"/>
          <p:nvPr/>
        </p:nvSpPr>
        <p:spPr>
          <a:xfrm>
            <a:off x="376812" y="6524382"/>
            <a:ext cx="79914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lt1"/>
                </a:solidFill>
              </a:rPr>
              <a:t>ME 597 Independent Study</a:t>
            </a:r>
            <a:endParaRPr sz="1000">
              <a:solidFill>
                <a:schemeClr val="lt1"/>
              </a:solidFill>
            </a:endParaRPr>
          </a:p>
        </p:txBody>
      </p:sp>
      <p:sp>
        <p:nvSpPr>
          <p:cNvPr id="463" name="Google Shape;463;p46"/>
          <p:cNvSpPr txBox="1"/>
          <p:nvPr/>
        </p:nvSpPr>
        <p:spPr>
          <a:xfrm>
            <a:off x="9335603" y="6524381"/>
            <a:ext cx="24735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464" name="Google Shape;464;p46"/>
          <p:cNvSpPr/>
          <p:nvPr/>
        </p:nvSpPr>
        <p:spPr>
          <a:xfrm flipH="1" rot="10800000">
            <a:off x="0" y="23"/>
            <a:ext cx="12192000" cy="86820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close up of a logo&#10;&#10;Description automatically generated" id="465" name="Google Shape;465;p4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554209" y="228018"/>
            <a:ext cx="277907" cy="401420"/>
          </a:xfrm>
          <a:prstGeom prst="rect">
            <a:avLst/>
          </a:prstGeom>
          <a:noFill/>
          <a:ln>
            <a:noFill/>
          </a:ln>
        </p:spPr>
      </p:pic>
      <p:sp>
        <p:nvSpPr>
          <p:cNvPr id="466" name="Google Shape;466;p46"/>
          <p:cNvSpPr txBox="1"/>
          <p:nvPr/>
        </p:nvSpPr>
        <p:spPr>
          <a:xfrm>
            <a:off x="376809" y="204053"/>
            <a:ext cx="10910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lt1"/>
                </a:solidFill>
              </a:rPr>
              <a:t>Conclusions</a:t>
            </a:r>
            <a:endParaRPr/>
          </a:p>
        </p:txBody>
      </p:sp>
      <p:sp>
        <p:nvSpPr>
          <p:cNvPr id="467" name="Google Shape;467;p46"/>
          <p:cNvSpPr txBox="1"/>
          <p:nvPr>
            <p:ph idx="1" type="body"/>
          </p:nvPr>
        </p:nvSpPr>
        <p:spPr>
          <a:xfrm>
            <a:off x="486525" y="1122224"/>
            <a:ext cx="10225500" cy="506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Key Conclusions</a:t>
            </a:r>
            <a:endParaRPr b="1"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SzPts val="1800"/>
              <a:buChar char="●"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Framework Development: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 A complete Earth–Moon CRTBP framework was developed integrating nonlinear propagation, adaptive PID-like guidance, natural-language dataset generation, LoRA fine-tuning, and closed-loop LLM evaluation.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Language Representation: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 The Llama 3.1 8B Instruct model successfully learned a structured mapping between spacecraft state descriptions, mission context, and continuous acceleration commands using over 1.31 million prompt-response examples.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Imitation Performance: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 Fine-tuning achieved approximately </a:t>
            </a: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96% held-out token accuracy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, demonstrating that the model learned the language representation of the PID-like controller.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Closed-Loop Performance: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 The LLM generated physically valid and bounded commands across multiple cislunar trajectory classes, but trajectory errors increased after disturbance injection.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Primary Finding: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 Learning a state-to-action mapping is not sufficient to reproduce an adaptive nonlinear controller when critical internal variables, temporal information, and feedback states are not represented.</a:t>
            </a:r>
            <a:endParaRPr sz="1800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47"/>
          <p:cNvSpPr/>
          <p:nvPr/>
        </p:nvSpPr>
        <p:spPr>
          <a:xfrm flipH="1" rot="10800000">
            <a:off x="0" y="6437102"/>
            <a:ext cx="12192000" cy="42090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3" name="Google Shape;473;p47"/>
          <p:cNvSpPr txBox="1"/>
          <p:nvPr/>
        </p:nvSpPr>
        <p:spPr>
          <a:xfrm>
            <a:off x="376812" y="6524382"/>
            <a:ext cx="79914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lt1"/>
                </a:solidFill>
              </a:rPr>
              <a:t>ME 597 Independent Study</a:t>
            </a:r>
            <a:endParaRPr sz="1000">
              <a:solidFill>
                <a:schemeClr val="lt1"/>
              </a:solidFill>
            </a:endParaRPr>
          </a:p>
        </p:txBody>
      </p:sp>
      <p:sp>
        <p:nvSpPr>
          <p:cNvPr id="474" name="Google Shape;474;p47"/>
          <p:cNvSpPr txBox="1"/>
          <p:nvPr/>
        </p:nvSpPr>
        <p:spPr>
          <a:xfrm>
            <a:off x="9335603" y="6524381"/>
            <a:ext cx="24735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475" name="Google Shape;475;p47"/>
          <p:cNvSpPr/>
          <p:nvPr/>
        </p:nvSpPr>
        <p:spPr>
          <a:xfrm flipH="1" rot="10800000">
            <a:off x="0" y="23"/>
            <a:ext cx="12192000" cy="86820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close up of a logo&#10;&#10;Description automatically generated" id="476" name="Google Shape;476;p4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554209" y="228018"/>
            <a:ext cx="277907" cy="401420"/>
          </a:xfrm>
          <a:prstGeom prst="rect">
            <a:avLst/>
          </a:prstGeom>
          <a:noFill/>
          <a:ln>
            <a:noFill/>
          </a:ln>
        </p:spPr>
      </p:pic>
      <p:sp>
        <p:nvSpPr>
          <p:cNvPr id="477" name="Google Shape;477;p47"/>
          <p:cNvSpPr txBox="1"/>
          <p:nvPr/>
        </p:nvSpPr>
        <p:spPr>
          <a:xfrm>
            <a:off x="376809" y="204053"/>
            <a:ext cx="10910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lt1"/>
                </a:solidFill>
              </a:rPr>
              <a:t>Future Work</a:t>
            </a:r>
            <a:endParaRPr/>
          </a:p>
        </p:txBody>
      </p:sp>
      <p:sp>
        <p:nvSpPr>
          <p:cNvPr id="478" name="Google Shape;478;p47"/>
          <p:cNvSpPr txBox="1"/>
          <p:nvPr>
            <p:ph idx="1" type="body"/>
          </p:nvPr>
        </p:nvSpPr>
        <p:spPr>
          <a:xfrm>
            <a:off x="486525" y="1188175"/>
            <a:ext cx="10225500" cy="4741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Improving LLM-Based Spacecraft Guidance</a:t>
            </a:r>
            <a:endParaRPr b="1" sz="18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Controller-State Representation</a:t>
            </a:r>
            <a:endParaRPr b="1"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Include integral state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Include adaptive gains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Include instability metrics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Include previous commands and uncertainty states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800">
                <a:latin typeface="Arial"/>
                <a:ea typeface="Arial"/>
                <a:cs typeface="Arial"/>
                <a:sym typeface="Arial"/>
              </a:rPr>
              <a:t>Dataset Improvements</a:t>
            </a:r>
            <a:endParaRPr b="1"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Increase halo and DRO representation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Include larger disturbance scenarios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Expand recovery-state coverage</a:t>
            </a:r>
            <a:endParaRPr sz="18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9" name="Google Shape;479;p47"/>
          <p:cNvSpPr txBox="1"/>
          <p:nvPr/>
        </p:nvSpPr>
        <p:spPr>
          <a:xfrm>
            <a:off x="6374349" y="1144225"/>
            <a:ext cx="5179800" cy="356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800">
                <a:solidFill>
                  <a:schemeClr val="dk1"/>
                </a:solidFill>
              </a:rPr>
              <a:t>Beyond Imitation Learning</a:t>
            </a:r>
            <a:endParaRPr b="1" sz="1800">
              <a:solidFill>
                <a:schemeClr val="dk1"/>
              </a:solidFill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>
                <a:solidFill>
                  <a:schemeClr val="dk1"/>
                </a:solidFill>
              </a:rPr>
              <a:t>Reinforcement learning</a:t>
            </a:r>
            <a:endParaRPr sz="1800">
              <a:solidFill>
                <a:schemeClr val="dk1"/>
              </a:solidFill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>
                <a:solidFill>
                  <a:schemeClr val="dk1"/>
                </a:solidFill>
              </a:rPr>
              <a:t>Trajectory-error optimization</a:t>
            </a:r>
            <a:endParaRPr sz="1800">
              <a:solidFill>
                <a:schemeClr val="dk1"/>
              </a:solidFill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>
                <a:solidFill>
                  <a:schemeClr val="dk1"/>
                </a:solidFill>
              </a:rPr>
              <a:t>Safety-constrained training objectives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42857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800">
                <a:solidFill>
                  <a:schemeClr val="dk1"/>
                </a:solidFill>
              </a:rPr>
              <a:t>Higher-Fidelity Validation</a:t>
            </a:r>
            <a:endParaRPr b="1" sz="1800">
              <a:solidFill>
                <a:schemeClr val="dk1"/>
              </a:solidFill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>
                <a:solidFill>
                  <a:schemeClr val="dk1"/>
                </a:solidFill>
              </a:rPr>
              <a:t>Ephemeris-based dynamics</a:t>
            </a:r>
            <a:endParaRPr sz="1800">
              <a:solidFill>
                <a:schemeClr val="dk1"/>
              </a:solidFill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-US" sz="1800">
                <a:solidFill>
                  <a:schemeClr val="dk1"/>
                </a:solidFill>
              </a:rPr>
              <a:t>Navigation uncertainty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10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3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Google Shape;484;p48"/>
          <p:cNvSpPr/>
          <p:nvPr/>
        </p:nvSpPr>
        <p:spPr>
          <a:xfrm flipH="1" rot="10800000">
            <a:off x="0" y="6437015"/>
            <a:ext cx="12192000" cy="420987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5" name="Google Shape;485;p48"/>
          <p:cNvSpPr txBox="1"/>
          <p:nvPr/>
        </p:nvSpPr>
        <p:spPr>
          <a:xfrm>
            <a:off x="376812" y="6524382"/>
            <a:ext cx="79914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lt1"/>
                </a:solidFill>
              </a:rPr>
              <a:t>ME 597 Independent Study</a:t>
            </a:r>
            <a:endParaRPr sz="1000">
              <a:solidFill>
                <a:schemeClr val="lt1"/>
              </a:solidFill>
            </a:endParaRPr>
          </a:p>
        </p:txBody>
      </p:sp>
      <p:sp>
        <p:nvSpPr>
          <p:cNvPr id="486" name="Google Shape;486;p48"/>
          <p:cNvSpPr txBox="1"/>
          <p:nvPr/>
        </p:nvSpPr>
        <p:spPr>
          <a:xfrm>
            <a:off x="9335603" y="6524381"/>
            <a:ext cx="2473415" cy="24618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487" name="Google Shape;487;p48"/>
          <p:cNvSpPr/>
          <p:nvPr/>
        </p:nvSpPr>
        <p:spPr>
          <a:xfrm flipH="1" rot="10800000">
            <a:off x="0" y="3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close up of a logo&#10;&#10;Description automatically generated" id="488" name="Google Shape;488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554209" y="228018"/>
            <a:ext cx="277907" cy="401420"/>
          </a:xfrm>
          <a:prstGeom prst="rect">
            <a:avLst/>
          </a:prstGeom>
          <a:noFill/>
          <a:ln>
            <a:noFill/>
          </a:ln>
        </p:spPr>
      </p:pic>
      <p:sp>
        <p:nvSpPr>
          <p:cNvPr id="489" name="Google Shape;489;p48"/>
          <p:cNvSpPr txBox="1"/>
          <p:nvPr/>
        </p:nvSpPr>
        <p:spPr>
          <a:xfrm>
            <a:off x="376809" y="204053"/>
            <a:ext cx="10910027" cy="5231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lt1"/>
                </a:solidFill>
              </a:rPr>
              <a:t>Work Cited</a:t>
            </a:r>
            <a:endParaRPr/>
          </a:p>
        </p:txBody>
      </p:sp>
      <p:sp>
        <p:nvSpPr>
          <p:cNvPr id="490" name="Google Shape;490;p48"/>
          <p:cNvSpPr txBox="1"/>
          <p:nvPr>
            <p:ph idx="1" type="body"/>
          </p:nvPr>
        </p:nvSpPr>
        <p:spPr>
          <a:xfrm>
            <a:off x="508488" y="1113688"/>
            <a:ext cx="10910100" cy="500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[1] Prussing, J. E., and Conway, B. A., </a:t>
            </a:r>
            <a:r>
              <a:rPr i="1" lang="en-US" sz="1800">
                <a:latin typeface="Arial"/>
                <a:ea typeface="Arial"/>
                <a:cs typeface="Arial"/>
                <a:sym typeface="Arial"/>
              </a:rPr>
              <a:t>Orbital Mechanics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, Oxford University Press, New York, 1993.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[2] Lavretsky, E., and Wise, K. A., </a:t>
            </a:r>
            <a:r>
              <a:rPr i="1" lang="en-US" sz="1800">
                <a:latin typeface="Arial"/>
                <a:ea typeface="Arial"/>
                <a:cs typeface="Arial"/>
                <a:sym typeface="Arial"/>
              </a:rPr>
              <a:t>Robust and Adaptive Control: With Aerospace Applications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, Springer-Verlag, London, 2012.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[3] Zucchelli, E. M., Wu, D., Briden, J., Hofmann, C., Rodriguez-Fernandez, V., and Linares, R., "Fine-Tuned Language Models as Space Systems Controllers," </a:t>
            </a:r>
            <a:r>
              <a:rPr i="1" lang="en-US" sz="1800">
                <a:latin typeface="Arial"/>
                <a:ea typeface="Arial"/>
                <a:cs typeface="Arial"/>
                <a:sym typeface="Arial"/>
              </a:rPr>
              <a:t>arXiv preprint arXiv:2501.16588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, 2025.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[4] Meta AI, "Llama 3.1 8B Instruct," 2024, URL:</a:t>
            </a:r>
            <a:r>
              <a:rPr lang="en-US" sz="1800">
                <a:uFill>
                  <a:noFill/>
                </a:uFill>
                <a:latin typeface="Arial"/>
                <a:ea typeface="Arial"/>
                <a:cs typeface="Arial"/>
                <a:sym typeface="Arial"/>
                <a:hlinkClick r:id="rId4"/>
              </a:rPr>
              <a:t> </a:t>
            </a:r>
            <a:r>
              <a:rPr lang="en-US" sz="1800" u="sng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5"/>
              </a:rPr>
              <a:t>https://huggingface.co/meta-llama/Llama-3.1-8B-Instruct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 [accessed 25 Aug. 2026].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[5] Hugging Face, "TRL: Transformer Reinforcement Learning Library and SFTTrainer Documentation," 2024, URL:</a:t>
            </a:r>
            <a:r>
              <a:rPr lang="en-US" sz="1800">
                <a:uFill>
                  <a:noFill/>
                </a:uFill>
                <a:latin typeface="Arial"/>
                <a:ea typeface="Arial"/>
                <a:cs typeface="Arial"/>
                <a:sym typeface="Arial"/>
                <a:hlinkClick r:id="rId6"/>
              </a:rPr>
              <a:t> </a:t>
            </a:r>
            <a:r>
              <a:rPr lang="en-US" sz="1800" u="sng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7"/>
              </a:rPr>
              <a:t>https://huggingface.co/docs/trl/sft_trainer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 [accessed 25 Aug. 2026].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[6] National Center for Supercomputing Applications, "Delta Advanced Computing and Data Resource," 2022, URL:</a:t>
            </a:r>
            <a:r>
              <a:rPr lang="en-US" sz="1800">
                <a:uFill>
                  <a:noFill/>
                </a:uFill>
                <a:latin typeface="Arial"/>
                <a:ea typeface="Arial"/>
                <a:cs typeface="Arial"/>
                <a:sym typeface="Arial"/>
                <a:hlinkClick r:id="rId8"/>
              </a:rPr>
              <a:t> </a:t>
            </a:r>
            <a:r>
              <a:rPr lang="en-US" sz="1800" u="sng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9"/>
              </a:rPr>
              <a:t>https://delta.ncsa.illinois.edu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.</a:t>
            </a:r>
            <a:endParaRPr sz="18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1800">
                <a:latin typeface="Arial"/>
                <a:ea typeface="Arial"/>
                <a:cs typeface="Arial"/>
                <a:sym typeface="Arial"/>
              </a:rPr>
              <a:t>[7] Advanced Cyberinfrastructure Coordination Ecosystem: Services and Support, "ACCESS Advanced Computing and Data Resources," 2024, URL:</a:t>
            </a:r>
            <a:r>
              <a:rPr lang="en-US" sz="1800">
                <a:uFill>
                  <a:noFill/>
                </a:uFill>
                <a:latin typeface="Arial"/>
                <a:ea typeface="Arial"/>
                <a:cs typeface="Arial"/>
                <a:sym typeface="Arial"/>
                <a:hlinkClick r:id="rId10"/>
              </a:rPr>
              <a:t> </a:t>
            </a:r>
            <a:r>
              <a:rPr lang="en-US" sz="1800" u="sng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11"/>
              </a:rPr>
              <a:t>https://access-ci.org</a:t>
            </a:r>
            <a:r>
              <a:rPr lang="en-US" sz="1800">
                <a:latin typeface="Arial"/>
                <a:ea typeface="Arial"/>
                <a:cs typeface="Arial"/>
                <a:sym typeface="Arial"/>
              </a:rPr>
              <a:t>.</a:t>
            </a:r>
            <a:endParaRPr b="1" sz="1800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