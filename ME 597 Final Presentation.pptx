
<file path=[Content_Types].xml><?xml version="1.0" encoding="utf-8"?>
<Types xmlns="http://schemas.openxmlformats.org/package/2006/content-types">
  <Default ContentType="image/jpeg" Extension="jpg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slide" Target="slides/slide31.xml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37" Type="http://schemas.openxmlformats.org/officeDocument/2006/relationships/slide" Target="slides/slide33.xml"/><Relationship Id="rId14" Type="http://schemas.openxmlformats.org/officeDocument/2006/relationships/slide" Target="slides/slide10.xml"/><Relationship Id="rId36" Type="http://schemas.openxmlformats.org/officeDocument/2006/relationships/slide" Target="slides/slide32.xml"/><Relationship Id="rId17" Type="http://schemas.openxmlformats.org/officeDocument/2006/relationships/slide" Target="slides/slide13.xml"/><Relationship Id="rId39" Type="http://schemas.openxmlformats.org/officeDocument/2006/relationships/slide" Target="slides/slide35.xml"/><Relationship Id="rId16" Type="http://schemas.openxmlformats.org/officeDocument/2006/relationships/slide" Target="slides/slide12.xml"/><Relationship Id="rId38" Type="http://schemas.openxmlformats.org/officeDocument/2006/relationships/slide" Target="slides/slide34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81" name="Google Shape;81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Please use this slide to introduce yourself. </a:t>
            </a:r>
            <a:r>
              <a:rPr lang="en-US">
                <a:latin typeface="Arial"/>
                <a:ea typeface="Arial"/>
                <a:cs typeface="Arial"/>
                <a:sym typeface="Arial"/>
              </a:rPr>
              <a:t>Include a headshot and/or images of your school/hometown.</a:t>
            </a:r>
            <a:endParaRPr/>
          </a:p>
        </p:txBody>
      </p:sp>
      <p:sp>
        <p:nvSpPr>
          <p:cNvPr id="90" name="Google Shape;90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ae52a69b0_0_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g3fae52a69b0_0_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103" name="Google Shape;103;g3fae52a69b0_0_5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Use this slide to introduce your research group as well as your research topic. </a:t>
            </a:r>
            <a:endParaRPr/>
          </a:p>
        </p:txBody>
      </p:sp>
      <p:sp>
        <p:nvSpPr>
          <p:cNvPr id="111" name="Google Shape;111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Here you can talk about the WHAT of your project. How are you solving the problem? Do you have a research hypothesis?</a:t>
            </a:r>
            <a:endParaRPr/>
          </a:p>
        </p:txBody>
      </p:sp>
      <p:sp>
        <p:nvSpPr>
          <p:cNvPr id="122" name="Google Shape;122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fae52a69b0_0_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g3fae52a69b0_0_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145" name="Google Shape;145;g3fae52a69b0_0_6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6b514a929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3" name="Google Shape;153;g3f6b514a929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ae52a69b0_0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g3fae52a69b0_0_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ae52a69b0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5" name="Google Shape;175;g3fae52a69b0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e52a69b0_0_2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g3fae52a69b0_0_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ae52a69b0_0_1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g3fae52a69b0_0_1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202" name="Google Shape;202;g3fae52a69b0_0_1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fae52a69b0_0_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0" name="Google Shape;210;g3fae52a69b0_0_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ae52a69b0_0_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2" name="Google Shape;222;g3fae52a69b0_0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fae52a69b0_0_9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3" name="Google Shape;233;g3fae52a69b0_0_9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ae52a69b0_0_1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5" name="Google Shape;245;g3fae52a69b0_0_1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ae52a69b0_0_19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g3fae52a69b0_0_19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258" name="Google Shape;258;g3fae52a69b0_0_19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fae52a69b0_0_12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6" name="Google Shape;266;g3fae52a69b0_0_1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ae52a69b0_0_1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7" name="Google Shape;277;g3fae52a69b0_0_1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fae52a69b0_0_1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9" name="Google Shape;289;g3fae52a69b0_0_1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fae52a69b0_0_1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2" name="Google Shape;302;g3fae52a69b0_0_1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ae52a69b0_0_2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g3fae52a69b0_0_2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316" name="Google Shape;316;g3fae52a69b0_0_2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ae52a69b0_0_1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4" name="Google Shape;324;g3fae52a69b0_0_1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fae52a69b0_0_17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5" name="Google Shape;335;g3fae52a69b0_0_1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fae52a69b0_0_2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6" name="Google Shape;346;g3fae52a69b0_0_2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f770fbd465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g3f770fbd465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359" name="Google Shape;359;g3f770fbd465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fae52a69b0_0_2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7" name="Google Shape;367;g3fae52a69b0_0_2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ae52a69b0_0_2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9" name="Google Shape;379;g3fae52a69b0_0_2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fae52a69b0_0_2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1" name="Google Shape;391;g3fae52a69b0_0_2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fae52a69b0_0_29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3" name="Google Shape;403;g3fae52a69b0_0_2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fae52a69b0_0_3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5" name="Google Shape;415;g3fae52a69b0_0_3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fae52a69b0_0_3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7" name="Google Shape;427;g3fae52a69b0_0_3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f7534e9490_0_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9" name="Google Shape;439;g3f7534e9490_0_6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440" name="Google Shape;440;g3f7534e9490_0_6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fae52a69b0_0_3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8" name="Google Shape;448;g3fae52a69b0_0_3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ae52a69b0_0_25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9" name="Google Shape;459;g3fae52a69b0_0_25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fae52a69b0_0_3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0" name="Google Shape;470;g3fae52a69b0_0_3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You can use this slide to thank you mentors and other collaborators. End the presentation by thanking the audience for their attention and ask if there are any questions.</a:t>
            </a:r>
            <a:endParaRPr/>
          </a:p>
        </p:txBody>
      </p:sp>
      <p:sp>
        <p:nvSpPr>
          <p:cNvPr id="482" name="Google Shape;48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831851" y="1709744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831851" y="4589469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839788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2" type="body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3" type="body"/>
          </p:nvPr>
        </p:nvSpPr>
        <p:spPr>
          <a:xfrm>
            <a:off x="6172203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4" type="body"/>
          </p:nvPr>
        </p:nvSpPr>
        <p:spPr>
          <a:xfrm>
            <a:off x="6172203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" type="body"/>
          </p:nvPr>
        </p:nvSpPr>
        <p:spPr>
          <a:xfrm>
            <a:off x="5183188" y="987431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5" name="Google Shape;55;p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6" name="Google Shape;56;p8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/>
          <p:nvPr>
            <p:ph idx="2" type="pic"/>
          </p:nvPr>
        </p:nvSpPr>
        <p:spPr>
          <a:xfrm>
            <a:off x="5183188" y="987431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9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 rot="5400000">
            <a:off x="7133432" y="1956597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1799432" y="-596103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2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Relationship Id="rId4" Type="http://schemas.openxmlformats.org/officeDocument/2006/relationships/image" Target="../media/image2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22.gif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9.gif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8.png"/><Relationship Id="rId4" Type="http://schemas.openxmlformats.org/officeDocument/2006/relationships/image" Target="../media/image23.png"/><Relationship Id="rId5" Type="http://schemas.openxmlformats.org/officeDocument/2006/relationships/image" Target="../media/image16.gif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8.png"/><Relationship Id="rId4" Type="http://schemas.openxmlformats.org/officeDocument/2006/relationships/image" Target="../media/image17.png"/><Relationship Id="rId5" Type="http://schemas.openxmlformats.org/officeDocument/2006/relationships/image" Target="../media/image14.gif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21.gif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8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hyperlink" Target="https://huggingface.co/meta-llama/Llama-3.1-8B-Instruct" TargetMode="External"/><Relationship Id="rId11" Type="http://schemas.openxmlformats.org/officeDocument/2006/relationships/hyperlink" Target="https://access-ci.org" TargetMode="External"/><Relationship Id="rId10" Type="http://schemas.openxmlformats.org/officeDocument/2006/relationships/hyperlink" Target="https://access-ci.org" TargetMode="External"/><Relationship Id="rId9" Type="http://schemas.openxmlformats.org/officeDocument/2006/relationships/hyperlink" Target="https://delta.ncsa.illinois.edu" TargetMode="External"/><Relationship Id="rId5" Type="http://schemas.openxmlformats.org/officeDocument/2006/relationships/hyperlink" Target="https://huggingface.co/meta-llama/Llama-3.1-8B-Instruct" TargetMode="External"/><Relationship Id="rId6" Type="http://schemas.openxmlformats.org/officeDocument/2006/relationships/hyperlink" Target="https://huggingface.co/docs/trl/sft_trainer" TargetMode="External"/><Relationship Id="rId7" Type="http://schemas.openxmlformats.org/officeDocument/2006/relationships/hyperlink" Target="https://huggingface.co/docs/trl/sft_trainer" TargetMode="External"/><Relationship Id="rId8" Type="http://schemas.openxmlformats.org/officeDocument/2006/relationships/hyperlink" Target="https://delta.ncsa.illinois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/>
          <p:nvPr/>
        </p:nvSpPr>
        <p:spPr>
          <a:xfrm flipH="1" rot="10800000">
            <a:off x="-1" y="-4057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84" name="Google Shape;84;p12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-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2"/>
          <p:cNvSpPr txBox="1"/>
          <p:nvPr/>
        </p:nvSpPr>
        <p:spPr>
          <a:xfrm>
            <a:off x="1133991" y="1609771"/>
            <a:ext cx="9924000" cy="39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Representing Adaptive Spacecraft Guidance Policies with Large Language Models in the Earth–Moon CRTBP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</a:rPr>
              <a:t>Researcher: Daniel Amaya 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2000">
                <a:solidFill>
                  <a:schemeClr val="lt1"/>
                </a:solidFill>
              </a:rPr>
              <a:t>MS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br>
              <a:rPr lang="en-US" sz="2000">
                <a:solidFill>
                  <a:schemeClr val="lt1"/>
                </a:solidFill>
              </a:rPr>
            </a:br>
            <a:r>
              <a:rPr lang="en-US" sz="2000">
                <a:solidFill>
                  <a:schemeClr val="lt1"/>
                </a:solidFill>
              </a:rPr>
              <a:t>A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dvisors: </a:t>
            </a:r>
            <a:r>
              <a:rPr lang="en-US" sz="2000">
                <a:solidFill>
                  <a:schemeClr val="lt1"/>
                </a:solidFill>
              </a:rPr>
              <a:t>Hiroyasu </a:t>
            </a:r>
            <a:r>
              <a:rPr lang="en-US" sz="2000">
                <a:solidFill>
                  <a:schemeClr val="lt1"/>
                </a:solidFill>
              </a:rPr>
              <a:t>Tsukamoto</a:t>
            </a:r>
            <a:r>
              <a:rPr lang="en-US" sz="2000">
                <a:solidFill>
                  <a:schemeClr val="lt1"/>
                </a:solidFill>
              </a:rPr>
              <a:t> 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2000">
                <a:solidFill>
                  <a:schemeClr val="lt1"/>
                </a:solidFill>
              </a:rPr>
              <a:t>PhD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), </a:t>
            </a:r>
            <a:r>
              <a:rPr lang="en-US" sz="2000">
                <a:solidFill>
                  <a:schemeClr val="lt1"/>
                </a:solidFill>
              </a:rPr>
              <a:t>Siyi Xu (PhD)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86" name="Google Shape;8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1012" y="391371"/>
            <a:ext cx="2909984" cy="754083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2"/>
          <p:cNvSpPr txBox="1"/>
          <p:nvPr/>
        </p:nvSpPr>
        <p:spPr>
          <a:xfrm>
            <a:off x="3922061" y="5743605"/>
            <a:ext cx="4347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</a:rPr>
              <a:t>8/26/2026</a:t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idx="1" type="body"/>
          </p:nvPr>
        </p:nvSpPr>
        <p:spPr>
          <a:xfrm>
            <a:off x="4212683" y="1171564"/>
            <a:ext cx="3238200" cy="482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US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Daniel Amaya</a:t>
            </a:r>
            <a:endParaRPr b="1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N-ACXIS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UIUC 26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13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97" name="Google Shape;9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3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 rotWithShape="1">
          <a:blip r:embed="rId4">
            <a:alphaModFix/>
          </a:blip>
          <a:srcRect b="7986" l="0" r="0" t="15220"/>
          <a:stretch/>
        </p:blipFill>
        <p:spPr>
          <a:xfrm>
            <a:off x="4713525" y="1981623"/>
            <a:ext cx="2236500" cy="2209500"/>
          </a:xfrm>
          <a:prstGeom prst="ellipse">
            <a:avLst/>
          </a:prstGeom>
          <a:noFill/>
          <a:ln cap="flat" cmpd="sng" w="76200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106" name="Google Shape;106;p14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Proposed</a:t>
            </a:r>
            <a:r>
              <a:rPr b="1" lang="en-US" sz="4500">
                <a:solidFill>
                  <a:schemeClr val="lt1"/>
                </a:solidFill>
              </a:rPr>
              <a:t> Work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108" name="Google Shape;10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6" name="Google Shape;116;p15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17" name="Google Shape;11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Research Focus</a:t>
            </a:r>
            <a:endParaRPr/>
          </a:p>
        </p:txBody>
      </p:sp>
      <p:sp>
        <p:nvSpPr>
          <p:cNvPr id="119" name="Google Shape;119;p15"/>
          <p:cNvSpPr txBox="1"/>
          <p:nvPr>
            <p:ph idx="1" type="body"/>
          </p:nvPr>
        </p:nvSpPr>
        <p:spPr>
          <a:xfrm>
            <a:off x="738000" y="1345050"/>
            <a:ext cx="10716000" cy="41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Future space exploration missions require spacecraft capable of autonomous operation with limited communication and ground support.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Key Challenges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Nonlinear Orbital Dynamics: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Cislunar trajectories are governed by coupled gravitational effects, unstable regions, and sensitivity to initial conditions.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Mission Diversity: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Earth orbits, lunar orbits, transfers, halo orbits, and DROs require different guidance behavior.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Continuous Disturbance Rejection: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Autonomous systems must maintain tracking performance despite persistent model uncertainty and perturbations.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Research Direction: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 Investigate whether LLMs can provide a unified language-conditioned spacecraft guidance policy.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7" name="Google Shape;127;p16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8" name="Google Shape;12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Research </a:t>
            </a: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Objectives</a:t>
            </a:r>
            <a:endParaRPr/>
          </a:p>
        </p:txBody>
      </p:sp>
      <p:sp>
        <p:nvSpPr>
          <p:cNvPr id="130" name="Google Shape;130;p16"/>
          <p:cNvSpPr txBox="1"/>
          <p:nvPr>
            <p:ph idx="1" type="body"/>
          </p:nvPr>
        </p:nvSpPr>
        <p:spPr>
          <a:xfrm>
            <a:off x="844525" y="1406450"/>
            <a:ext cx="99747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Evaluate the feasibility, precision, and closed-loop performance of autoregressive language models acting as primary feedback controllers in cislunar space.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Core Research Questions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Dynamic Learning: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Can a parameter-efficient fine-tuned LLM learn nonlinear spacecraft guidance behavior when formatted as sequence-to-sequence control data?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Closed-Loop Feedback: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Can generated continuous thrust commands maintain spacecraft trajectory tracking during disturbed nonlinear CRTBP propagation?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Control Precision: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Does high token-level imitation accuracy translate into accurate spacecraft-level control performance?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38" name="Google Shape;138;p17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39" name="Google Shape;13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Research</a:t>
            </a:r>
            <a:r>
              <a:rPr lang="en-US" sz="2800">
                <a:solidFill>
                  <a:schemeClr val="lt1"/>
                </a:solidFill>
              </a:rPr>
              <a:t> Framework</a:t>
            </a:r>
            <a:endParaRPr/>
          </a:p>
        </p:txBody>
      </p:sp>
      <p:sp>
        <p:nvSpPr>
          <p:cNvPr id="141" name="Google Shape;141;p17"/>
          <p:cNvSpPr txBox="1"/>
          <p:nvPr>
            <p:ph idx="1" type="body"/>
          </p:nvPr>
        </p:nvSpPr>
        <p:spPr>
          <a:xfrm>
            <a:off x="838125" y="1144225"/>
            <a:ext cx="10448700" cy="50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Physics-Based Demonstration to Learned Guidance Policy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Theoretical Domain: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Earth–Moon Circular Restricted Three-Body Problem (CRTBP)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Expert Policy: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Adaptive gain-scheduled PID-like controller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Natural-language spacecraft state and control-command demonstrations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Model: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LoRA-adapted Llama 3.1 8B Instruct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Evaluation: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Closed-loop LLM spacecraft control under disturbances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148" name="Google Shape;148;p18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8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Simulation </a:t>
            </a:r>
            <a:r>
              <a:rPr b="1" lang="en-US" sz="4500">
                <a:solidFill>
                  <a:schemeClr val="lt1"/>
                </a:solidFill>
              </a:rPr>
              <a:t>Environment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150" name="Google Shape;15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9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9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57" name="Google Shape;157;p19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58" name="Google Shape;158;p19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59" name="Google Shape;15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9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CRTBP Earth-Moon </a:t>
            </a:r>
            <a:r>
              <a:rPr lang="en-US" sz="2800">
                <a:solidFill>
                  <a:schemeClr val="lt1"/>
                </a:solidFill>
              </a:rPr>
              <a:t>Domain</a:t>
            </a:r>
            <a:endParaRPr/>
          </a:p>
        </p:txBody>
      </p:sp>
      <p:sp>
        <p:nvSpPr>
          <p:cNvPr id="161" name="Google Shape;161;p19"/>
          <p:cNvSpPr txBox="1"/>
          <p:nvPr>
            <p:ph idx="1" type="body"/>
          </p:nvPr>
        </p:nvSpPr>
        <p:spPr>
          <a:xfrm>
            <a:off x="486525" y="1188175"/>
            <a:ext cx="108003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CRTBP Dynamical Model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CRTBP governs the motion of a massless spacecraft influenced by two primary orbiting bodies.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Earth–Moon system is represented using 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non dimensional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rotating coordinates.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nonlinear rotating-frame dynamics capture important cislunar trajectory behaviors.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Jacobi constant provides conserved energy structure for the unforced system: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C=2U−v2C=2U-v^2C=2U−v2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Purpose: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 Provide a computationally efficient nonlinear environment for guidance-policy generation and evaluation.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0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68" name="Google Shape;168;p20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69" name="Google Shape;169;p20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70" name="Google Shape;17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0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Simulation and Trajectory Generation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172" name="Google Shape;172;p20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Numerical Propagation Framework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Canonical Units: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Distance, velocity, and acceleration are normalized using Earth–Moon characteristic scales.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Numerical Integration: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Adaptive Runge–Kutta propagation using nonlinear CRTBP equations.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STM Propagation: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State Transition Matrix integration enables trajectory sensitivity analysis and periodic orbit correction.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Reference Trajectories: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Generated through nonlinear propagation, multiple-shooting correction, and spline interpolation.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1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79" name="Google Shape;179;p21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80" name="Google Shape;180;p21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81" name="Google Shape;18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1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Cislunar Trajectory Classes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183" name="Google Shape;183;p21"/>
          <p:cNvSpPr txBox="1"/>
          <p:nvPr>
            <p:ph idx="1" type="body"/>
          </p:nvPr>
        </p:nvSpPr>
        <p:spPr>
          <a:xfrm>
            <a:off x="486525" y="1188175"/>
            <a:ext cx="47523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Multi-Regime Evaluation Environment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simulation framework supports: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Moon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Earth–Moon Transfer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L1 Halo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L2 Halo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Distant Retrograde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Objective: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Test whether one learned policy can generalize across substantially different dynamical environments.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4" name="Google Shape;184;p21" title="multi_trajectory_summar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94868" y="1062276"/>
            <a:ext cx="6732836" cy="5039776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2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92" name="Google Shape;192;p22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93" name="Google Shape;19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2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Controller Information Structure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195" name="Google Shape;195;p22"/>
          <p:cNvSpPr txBox="1"/>
          <p:nvPr>
            <p:ph idx="1" type="body"/>
          </p:nvPr>
        </p:nvSpPr>
        <p:spPr>
          <a:xfrm>
            <a:off x="486525" y="1028263"/>
            <a:ext cx="10225500" cy="52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Expert Controller vs. Learned Policy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PID-like Controller Access: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Current spacecraft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Reference trajectory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Tracking-error history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Integral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Adaptive gains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Local instability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Continuous feedback updates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LLM Access: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Current spacecraft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Reference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Tracking error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Mission context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6" name="Google Shape;196;p22" title="trajectory_results_run_1.png"/>
          <p:cNvPicPr preferRelativeResize="0"/>
          <p:nvPr/>
        </p:nvPicPr>
        <p:blipFill rotWithShape="1">
          <a:blip r:embed="rId4">
            <a:alphaModFix/>
          </a:blip>
          <a:srcRect b="0" l="0" r="0" t="50159"/>
          <a:stretch/>
        </p:blipFill>
        <p:spPr>
          <a:xfrm>
            <a:off x="5073337" y="1025764"/>
            <a:ext cx="6685783" cy="24959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2" title="trajectory_results_run_5.png"/>
          <p:cNvPicPr preferRelativeResize="0"/>
          <p:nvPr/>
        </p:nvPicPr>
        <p:blipFill rotWithShape="1">
          <a:blip r:embed="rId5">
            <a:alphaModFix/>
          </a:blip>
          <a:srcRect b="0" l="0" r="0" t="49860"/>
          <a:stretch/>
        </p:blipFill>
        <p:spPr>
          <a:xfrm>
            <a:off x="5073350" y="3737197"/>
            <a:ext cx="6650204" cy="2495916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2"/>
          <p:cNvSpPr/>
          <p:nvPr/>
        </p:nvSpPr>
        <p:spPr>
          <a:xfrm>
            <a:off x="5002820" y="1025763"/>
            <a:ext cx="6685800" cy="5198400"/>
          </a:xfrm>
          <a:prstGeom prst="rect">
            <a:avLst/>
          </a:prstGeom>
          <a:noFill/>
          <a:ln cap="flat" cmpd="sng" w="203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775" lIns="97775" spcFirstLastPara="1" rIns="97775" wrap="square" tIns="97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97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3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205" name="Google Shape;205;p23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3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Natural Language Data Generation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207" name="Google Shape;207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4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4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14" name="Google Shape;214;p24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15" name="Google Shape;215;p24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16" name="Google Shape;21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4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Dataset Construction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18" name="Google Shape;218;p24"/>
          <p:cNvSpPr txBox="1"/>
          <p:nvPr>
            <p:ph idx="1" type="body"/>
          </p:nvPr>
        </p:nvSpPr>
        <p:spPr>
          <a:xfrm>
            <a:off x="486525" y="1188175"/>
            <a:ext cx="84450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 Generation Pipeline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Generate nominal reference trajectories.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Inject controlled position and velocity disturbances.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Propagate recovery trajectories using the PID-like controller.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Store spacecraft state, reference state, mission context, and control action.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Convert numerical states and actions into structured language prompts and responses.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4"/>
          <p:cNvSpPr txBox="1"/>
          <p:nvPr/>
        </p:nvSpPr>
        <p:spPr>
          <a:xfrm>
            <a:off x="362700" y="4410808"/>
            <a:ext cx="11466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Trajectory/</a:t>
            </a: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Perturbation</a:t>
            </a: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Spacecraft State/Control Input →Natural Language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5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5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26" name="Google Shape;226;p25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27" name="Google Shape;227;p25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28" name="Google Shape;22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5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Dataset Size and Mission Coverage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30" name="Google Shape;230;p25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 Composition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600 complete spacecraft trajectories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1,311,089 supervised prompt-response pairs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Samples extracted using stride-two trajectory sampling.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Mission Distribution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 Orbit: 46.1%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Earth–Moon Transfer: 26.8%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Moon Orbit: 13.2%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L1 Halo: 9.5%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L2 Halo: 3.2%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DRO: 1.2%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6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6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37" name="Google Shape;237;p26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38" name="Google Shape;238;p26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39" name="Google Shape;23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6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Natural-Language Representation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41" name="Google Shape;241;p26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State-to-Text and Control-to-Text Conversion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Input Prompt Contains: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Cartesian position and velocity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Magnitude and direction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Reference trajectory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Position and velocity tracking errors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Mission progress and objective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Output Response Contains: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Three-axis acceleration vector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Magnitude and orientation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Canonical and physical units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6"/>
          <p:cNvSpPr txBox="1"/>
          <p:nvPr/>
        </p:nvSpPr>
        <p:spPr>
          <a:xfrm>
            <a:off x="6374100" y="1632000"/>
            <a:ext cx="5180100" cy="35940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{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      "role": "assistant",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      "content": "Command a continuous thrust acceleration vector of +8.9141e-07 m/s2 (0.000327 canonical units) along the X-axis, +1.2422e-06 m/s2 (0.000456 canonical units) along the Y-axis, and -7.2122e-08 m/s2 (-0.000026 canonical units) along the Z-axis. This applies a total physical thrust acceleration magnitude of 1.5306e-06 m/s2, oriented toward an azimuth of 54.3 degrees and an elevation of -2.7 degrees."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>
                <a:solidFill>
                  <a:schemeClr val="dk1"/>
                </a:solidFill>
              </a:rPr>
              <a:t>    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7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7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49" name="Google Shape;249;p27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50" name="Google Shape;250;p27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51" name="Google Shape;25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7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Dataset Verification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53" name="Google Shape;253;p27"/>
          <p:cNvSpPr txBox="1"/>
          <p:nvPr>
            <p:ph idx="1" type="body"/>
          </p:nvPr>
        </p:nvSpPr>
        <p:spPr>
          <a:xfrm>
            <a:off x="486525" y="1188175"/>
            <a:ext cx="59613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Verification of Demonstration Quality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Verification 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reconstructs trajectories from JSONL data and compares them against original PID-like simulations.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Mean discrepancy: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0.03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Median discrepancy: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0.01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Maximum discrepancy: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3.87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Conclusion: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 The dataset accurately preserves the expert guidance behavior used for training.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" name="Google Shape;254;p27" title="verified_trajectori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87325" y="1766523"/>
            <a:ext cx="5021778" cy="332496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8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261" name="Google Shape;261;p28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8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LLM Training Performance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263" name="Google Shape;263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9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9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70" name="Google Shape;270;p29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71" name="Google Shape;271;p29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72" name="Google Shape;27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9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Model Fine-Tuning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74" name="Google Shape;274;p29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Fine-Tuning Llama 3.1 8B Instruct for Spacecraft Guidance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pretrained foundation model is adapted to reproduce the adaptive PID-like guidance policy.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Learning Objective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πFM:(x,xref,xerr,m,p)→u\pi_{FM}:(x,x_{ref},x_{err},m,p)\rightarrow uπFM​:(x,xref​,xerr​,m,p)→u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where: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x: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Current spacecraft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x</a:t>
            </a:r>
            <a:r>
              <a:rPr b="1" baseline="-25000" lang="en-US" sz="1800">
                <a:latin typeface="Arial"/>
                <a:ea typeface="Arial"/>
                <a:cs typeface="Arial"/>
                <a:sym typeface="Arial"/>
              </a:rPr>
              <a:t>ref</a:t>
            </a: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Desired reference trajectory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x</a:t>
            </a:r>
            <a:r>
              <a:rPr b="1" baseline="-25000" lang="en-US" sz="1800">
                <a:latin typeface="Arial"/>
                <a:ea typeface="Arial"/>
                <a:cs typeface="Arial"/>
                <a:sym typeface="Arial"/>
              </a:rPr>
              <a:t>err</a:t>
            </a: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Tracking error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Mission context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Mission progress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u: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Continuous three-axis acceleration command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0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30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81" name="Google Shape;281;p30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82" name="Google Shape;282;p30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83" name="Google Shape;28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30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Training Methodology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85" name="Google Shape;285;p30"/>
          <p:cNvSpPr txBox="1"/>
          <p:nvPr>
            <p:ph idx="1" type="body"/>
          </p:nvPr>
        </p:nvSpPr>
        <p:spPr>
          <a:xfrm>
            <a:off x="486525" y="1188175"/>
            <a:ext cx="57414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Supervised Instruction Fine-Tuning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Each trajectory sample is formatted as: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User Prompt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Describes spacecraft position and velocity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Provides reference trajectory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Includes tracking error and mission objective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Assistant Response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Outputs required acceleration vector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Includes physical and canonical units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0"/>
          <p:cNvSpPr txBox="1"/>
          <p:nvPr/>
        </p:nvSpPr>
        <p:spPr>
          <a:xfrm>
            <a:off x="5810250" y="1179625"/>
            <a:ext cx="6411300" cy="42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Optimization: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Hugging Face SFTTrainer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Causal language-modeling objective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Loss computed </a:t>
            </a:r>
            <a:r>
              <a:rPr b="1" lang="en-US" sz="1800">
                <a:solidFill>
                  <a:schemeClr val="dk1"/>
                </a:solidFill>
              </a:rPr>
              <a:t>only on completion tokens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Prompt tokens excluded using response-template masking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Key Point:</a:t>
            </a:r>
            <a:br>
              <a:rPr b="1" lang="en-US" sz="1800">
                <a:solidFill>
                  <a:schemeClr val="dk1"/>
                </a:solidFill>
              </a:rPr>
            </a:br>
            <a:r>
              <a:rPr lang="en-US" sz="1800">
                <a:solidFill>
                  <a:schemeClr val="dk1"/>
                </a:solidFill>
              </a:rPr>
              <a:t> The model learns to reproduce control decisions, not directly minimize spacecraft trajectory error.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1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1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93" name="Google Shape;293;p31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94" name="Google Shape;294;p31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95" name="Google Shape;29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1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Training Configuration and Convergence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97" name="Google Shape;297;p31"/>
          <p:cNvSpPr txBox="1"/>
          <p:nvPr>
            <p:ph idx="1" type="body"/>
          </p:nvPr>
        </p:nvSpPr>
        <p:spPr>
          <a:xfrm>
            <a:off x="486525" y="1034310"/>
            <a:ext cx="6561900" cy="52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Fine-Tuning Configuration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1,311,089 samples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Train/Evaluation Split: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95% / 5%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Maximum Sequence Length: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512 tokens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Learning Rate: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\(2\times10^{-4}\)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Effective Batch Size: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32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Precision: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bfloat16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2.57 epochs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Training Behavior: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Stable loss decrease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No evidence of significant overfitting: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Training Loss Fit: R2 = 0.9552 with an estimated asymptotic limit of 0.1495.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Evaluation Loss Fit: R2 = 0.9926 with an estimated asymptotic limit of 0.1466.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8" name="Google Shape;298;p31" title="metric_eval_los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95699" y="3665010"/>
            <a:ext cx="4291195" cy="266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1" title="metric_train_los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48442" y="995258"/>
            <a:ext cx="4185713" cy="26037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2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2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06" name="Google Shape;306;p32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07" name="Google Shape;307;p32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08" name="Google Shape;308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2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Fine-Tuning Performance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10" name="Google Shape;310;p32"/>
          <p:cNvSpPr txBox="1"/>
          <p:nvPr>
            <p:ph idx="1" type="body"/>
          </p:nvPr>
        </p:nvSpPr>
        <p:spPr>
          <a:xfrm>
            <a:off x="486525" y="1188175"/>
            <a:ext cx="63348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Successful Language-Level Imitation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Final Metrics: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Training Loss: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0.1526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Evaluation Loss: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0.1509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Training Token Accuracy: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95.91%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Evaluation Token Accuracy: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95.99%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Interpretation: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model learned spacecraft-state descriptions.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model learned mission-conditioned output structure.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model reproduced the formatting and numerical patterns of PID-like commands.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1" name="Google Shape;311;p32" title="metric_train_mean_token_accurac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73725" y="940610"/>
            <a:ext cx="4313175" cy="2678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2" title="metric_eval_mean_token_accurac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17687" y="3663450"/>
            <a:ext cx="4313175" cy="2678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3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319" name="Google Shape;319;p33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3"/>
          <p:cNvSpPr txBox="1"/>
          <p:nvPr/>
        </p:nvSpPr>
        <p:spPr>
          <a:xfrm>
            <a:off x="1133991" y="2532942"/>
            <a:ext cx="99240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Closed-Loop LLM Evaluation</a:t>
            </a:r>
            <a:endParaRPr b="1" sz="45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45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</a:endParaRPr>
          </a:p>
        </p:txBody>
      </p:sp>
      <p:pic>
        <p:nvPicPr>
          <p:cNvPr descr="A picture containing drawing&#10;&#10;Description automatically generated" id="321" name="Google Shape;321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4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34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28" name="Google Shape;328;p34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29" name="Google Shape;329;p34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30" name="Google Shape;33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34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Closed-Loop Evaluation Architecture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32" name="Google Shape;332;p34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Deploying the LLM as a Spacecraft Feedback Controller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fine-tuned LLM is integrated directly into the spacecraft simulation loop.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Control Cycle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Measure spacecraft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Generate mission-aware prompt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Perform LLM inference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Extract acceleration command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Apply safety conditioning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Propagate disturbed CRTBP dynamics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Repeat guidance update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Evaluation Goal: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 Determine whether learned language-based guidance reproduces closed-loop expert-controller behavior.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5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35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40" name="Google Shape;340;p35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41" name="Google Shape;34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35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LLM Command Processing and Safety Conditioning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43" name="Google Shape;343;p35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Converting Text Output into Physical Control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generated response passes through: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Command Parsing: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Extract X, Y, and Z acceleration components.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Validation: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Enforce physical acceleration limits.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Fallback Handling: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Maintain previous valid command if parsing fails.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Smoothing: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Apply exponential filtering.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Rate Limiting: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Restrict rapid command changes.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Maximum acceleration constraint: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∣∣u∣∣≤0.01 m/s2||u||\leq0.01~m/s^2∣∣u∣∣≤0.01 m/s2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Important: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 Safety conditioning prevents invalid commands but does not stabilize incorrect predictions.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6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36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50" name="Google Shape;350;p36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51" name="Google Shape;351;p36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52" name="Google Shape;352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36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Closed-Loop Evaluation Setup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54" name="Google Shape;354;p36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Testing Across Cislunar Mission Classes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LLM controller was evaluated on: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Moon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Earth–Moon Transfer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L1/L2 Halo Orbits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Distant Retrograde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Simulation Conditions: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Same disturbance model as training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Injected position and velocity perturbation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Sampled-data LLM control updates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Continuous nonlinear CRTBP propagation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36"/>
          <p:cNvSpPr txBox="1"/>
          <p:nvPr/>
        </p:nvSpPr>
        <p:spPr>
          <a:xfrm>
            <a:off x="5692869" y="1188175"/>
            <a:ext cx="6191400" cy="22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Metrics: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Position error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Velocity error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Acceleration magnitude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Total ΔV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Command validity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7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362" name="Google Shape;362;p37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7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LLM Performance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364" name="Google Shape;364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8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8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71" name="Google Shape;371;p38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72" name="Google Shape;372;p38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73" name="Google Shape;373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38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LLM Closed-Loop Results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75" name="Google Shape;375;p38"/>
          <p:cNvSpPr txBox="1"/>
          <p:nvPr>
            <p:ph idx="1" type="body"/>
          </p:nvPr>
        </p:nvSpPr>
        <p:spPr>
          <a:xfrm>
            <a:off x="486525" y="1100250"/>
            <a:ext cx="5059800" cy="53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Trajectory Tracking Performance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Final position errors: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Earth Orbit: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500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Moon Orbit: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1338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Earth–Moon Transfer: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189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L1 Halo: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533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DRO: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496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Observation: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LLM generated bounded and physically valid commands.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spacecraft trajectories remained numerically bounded.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Tracking errors increased following disturbances.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6" name="Google Shape;376;p38" title="llm_multi_trajectory_summar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8000" y="1148399"/>
            <a:ext cx="6691098" cy="5008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9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39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83" name="Google Shape;383;p39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84" name="Google Shape;384;p39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85" name="Google Shape;385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39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1 Earth Orbit</a:t>
            </a:r>
            <a:endParaRPr/>
          </a:p>
        </p:txBody>
      </p:sp>
      <p:pic>
        <p:nvPicPr>
          <p:cNvPr id="387" name="Google Shape;387;p39" title="llm_trajectory_results_run_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9099" y="982526"/>
            <a:ext cx="7071150" cy="5299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9" title="trajectory_animation_run_1.gif"/>
          <p:cNvPicPr preferRelativeResize="0"/>
          <p:nvPr/>
        </p:nvPicPr>
        <p:blipFill rotWithShape="1">
          <a:blip r:embed="rId5">
            <a:alphaModFix/>
          </a:blip>
          <a:srcRect b="0" l="20446" r="13703" t="0"/>
          <a:stretch/>
        </p:blipFill>
        <p:spPr>
          <a:xfrm>
            <a:off x="7435850" y="932225"/>
            <a:ext cx="4362450" cy="5299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0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0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95" name="Google Shape;395;p40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96" name="Google Shape;396;p40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97" name="Google Shape;397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40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2 Moon Orbit</a:t>
            </a:r>
            <a:endParaRPr/>
          </a:p>
        </p:txBody>
      </p:sp>
      <p:pic>
        <p:nvPicPr>
          <p:cNvPr id="399" name="Google Shape;399;p40" title="llm_trajectory_results_run_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4301" y="1026525"/>
            <a:ext cx="7016750" cy="5252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40" title="trajectory_animation_run_2.gif"/>
          <p:cNvPicPr preferRelativeResize="0"/>
          <p:nvPr/>
        </p:nvPicPr>
        <p:blipFill rotWithShape="1">
          <a:blip r:embed="rId5">
            <a:alphaModFix/>
          </a:blip>
          <a:srcRect b="0" l="19430" r="14415" t="0"/>
          <a:stretch/>
        </p:blipFill>
        <p:spPr>
          <a:xfrm>
            <a:off x="7467600" y="1026525"/>
            <a:ext cx="4343400" cy="5252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1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1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07" name="Google Shape;407;p41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08" name="Google Shape;408;p41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09" name="Google Shape;409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41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3 Earth-Moon Transfer</a:t>
            </a:r>
            <a:endParaRPr/>
          </a:p>
        </p:txBody>
      </p:sp>
      <p:pic>
        <p:nvPicPr>
          <p:cNvPr id="411" name="Google Shape;411;p41" title="llm_trajectory_results_run_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8877" y="966835"/>
            <a:ext cx="7232276" cy="5406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41" title="trajectory_animation_run_3.gif"/>
          <p:cNvPicPr preferRelativeResize="0"/>
          <p:nvPr/>
        </p:nvPicPr>
        <p:blipFill rotWithShape="1">
          <a:blip r:embed="rId5">
            <a:alphaModFix/>
          </a:blip>
          <a:srcRect b="0" l="20494" r="11512" t="0"/>
          <a:stretch/>
        </p:blipFill>
        <p:spPr>
          <a:xfrm>
            <a:off x="7568708" y="950564"/>
            <a:ext cx="4443551" cy="5228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2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42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19" name="Google Shape;419;p42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20" name="Google Shape;420;p42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21" name="Google Shape;421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42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4 L1 Halo</a:t>
            </a:r>
            <a:endParaRPr/>
          </a:p>
        </p:txBody>
      </p:sp>
      <p:pic>
        <p:nvPicPr>
          <p:cNvPr id="423" name="Google Shape;423;p42" title="llm_trajectory_results_run_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020623"/>
            <a:ext cx="7037102" cy="5264082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42" title="trajectory_animation_run_4.gif"/>
          <p:cNvPicPr preferRelativeResize="0"/>
          <p:nvPr/>
        </p:nvPicPr>
        <p:blipFill rotWithShape="1">
          <a:blip r:embed="rId5">
            <a:alphaModFix/>
          </a:blip>
          <a:srcRect b="0" l="17085" r="13350" t="0"/>
          <a:stretch/>
        </p:blipFill>
        <p:spPr>
          <a:xfrm>
            <a:off x="7359650" y="1026525"/>
            <a:ext cx="4533900" cy="5214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3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3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31" name="Google Shape;431;p43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32" name="Google Shape;432;p43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33" name="Google Shape;433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43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5 DRO</a:t>
            </a:r>
            <a:endParaRPr/>
          </a:p>
        </p:txBody>
      </p:sp>
      <p:pic>
        <p:nvPicPr>
          <p:cNvPr id="435" name="Google Shape;435;p43" title="llm_trajectory_results_run_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350" y="1020623"/>
            <a:ext cx="7032504" cy="52640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43" title="trajectory_animation_run_5.gif"/>
          <p:cNvPicPr preferRelativeResize="0"/>
          <p:nvPr/>
        </p:nvPicPr>
        <p:blipFill rotWithShape="1">
          <a:blip r:embed="rId5">
            <a:alphaModFix/>
          </a:blip>
          <a:srcRect b="0" l="17320" r="8852" t="0"/>
          <a:stretch/>
        </p:blipFill>
        <p:spPr>
          <a:xfrm>
            <a:off x="7054850" y="922975"/>
            <a:ext cx="5048250" cy="547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4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443" name="Google Shape;443;p44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44"/>
          <p:cNvSpPr txBox="1"/>
          <p:nvPr/>
        </p:nvSpPr>
        <p:spPr>
          <a:xfrm>
            <a:off x="1133991" y="2532942"/>
            <a:ext cx="9924000" cy="15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Discussion and Future Work</a:t>
            </a:r>
            <a:endParaRPr b="1" sz="45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4500">
              <a:solidFill>
                <a:schemeClr val="lt1"/>
              </a:solidFill>
            </a:endParaRPr>
          </a:p>
        </p:txBody>
      </p:sp>
      <p:pic>
        <p:nvPicPr>
          <p:cNvPr descr="A picture containing drawing&#10;&#10;Description automatically generated" id="445" name="Google Shape;445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45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5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52" name="Google Shape;452;p45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53" name="Google Shape;453;p45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54" name="Google Shape;45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45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SzPts val="1100"/>
              <a:buNone/>
            </a:pPr>
            <a:r>
              <a:rPr b="1" lang="en-US" sz="2800">
                <a:solidFill>
                  <a:schemeClr val="lt1"/>
                </a:solidFill>
              </a:rPr>
              <a:t>PID-like</a:t>
            </a:r>
            <a:r>
              <a:rPr b="1" lang="en-US" sz="2800">
                <a:solidFill>
                  <a:schemeClr val="lt1"/>
                </a:solidFill>
              </a:rPr>
              <a:t> VS LLM Control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456" name="Google Shape;456;p45"/>
          <p:cNvSpPr txBox="1"/>
          <p:nvPr>
            <p:ph idx="1" type="body"/>
          </p:nvPr>
        </p:nvSpPr>
        <p:spPr>
          <a:xfrm>
            <a:off x="486525" y="1056284"/>
            <a:ext cx="10225500" cy="51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PID-like Controller: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Uses accumulated error history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Maintains an integral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Adapts gains based on local instability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Continuously updates feedback behavior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LLM Controller: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Uses instantaneous state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Does not observe hidden controller states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Lacks explicit temporal memory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Uses lower-frequency sampled inference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Main Finding: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 The language representation captured observable spacecraft conditions but did not encode the complete information structure governing adaptive control decisions.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46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6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63" name="Google Shape;463;p46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64" name="Google Shape;464;p46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65" name="Google Shape;465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46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Conclusions</a:t>
            </a:r>
            <a:endParaRPr/>
          </a:p>
        </p:txBody>
      </p:sp>
      <p:sp>
        <p:nvSpPr>
          <p:cNvPr id="467" name="Google Shape;467;p46"/>
          <p:cNvSpPr txBox="1"/>
          <p:nvPr>
            <p:ph idx="1" type="body"/>
          </p:nvPr>
        </p:nvSpPr>
        <p:spPr>
          <a:xfrm>
            <a:off x="486525" y="1122224"/>
            <a:ext cx="10225500" cy="50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Key Conclusions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Framework Development: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 complete Earth–Moon CRTBP framework was developed integrating nonlinear propagation, adaptive PID-like guidance, natural-language dataset generation, LoRA fine-tuning, and closed-loop LLM evaluation.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Language Representation: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The Llama 3.1 8B Instruct model successfully learned a structured mapping between spacecraft state descriptions, mission context, and continuous acceleration commands using over 1.31 million prompt-response examples.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Imitation Performance: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Fine-tuning achieved approximately </a:t>
            </a: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96% held-out token accuracy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, demonstrating that the model learned the language representation of the expert controller.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Closed-Loop Performance: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The LLM generated physically valid and bounded commands across multiple cislunar trajectory classes, but trajectory errors increased after disturbance injection.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Primary Finding: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Learning a state-to-action mapping is not sufficient to reproduce an adaptive nonlinear controller when critical internal variables, temporal information, and feedback states are not represented.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47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47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74" name="Google Shape;474;p47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75" name="Google Shape;475;p47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76" name="Google Shape;476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47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Future Work</a:t>
            </a:r>
            <a:endParaRPr/>
          </a:p>
        </p:txBody>
      </p:sp>
      <p:sp>
        <p:nvSpPr>
          <p:cNvPr id="478" name="Google Shape;478;p47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Improving LLM-Based Spacecraft Guidance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Controller-State Representation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integral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adaptive gains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instability metrics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previous commands and uncertainty states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 Improvements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Increase halo and DRO representation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larger disturbance scenarios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Expand recovery-state coverage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47"/>
          <p:cNvSpPr txBox="1"/>
          <p:nvPr/>
        </p:nvSpPr>
        <p:spPr>
          <a:xfrm>
            <a:off x="6374349" y="1144225"/>
            <a:ext cx="5179800" cy="42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Beyond Imitation Learning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Reinforcement learning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Trajectory-error optimization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Safety-constrained training objectives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Higher-Fidelity Validation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Ephemeris-based dynamics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Navigation uncertainty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Actuator dynamics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Hardware-in-the-loop testing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48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8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86" name="Google Shape;486;p48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87" name="Google Shape;487;p48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88" name="Google Shape;488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48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Work Cited</a:t>
            </a:r>
            <a:endParaRPr/>
          </a:p>
        </p:txBody>
      </p:sp>
      <p:sp>
        <p:nvSpPr>
          <p:cNvPr id="490" name="Google Shape;490;p48"/>
          <p:cNvSpPr txBox="1"/>
          <p:nvPr>
            <p:ph idx="1" type="body"/>
          </p:nvPr>
        </p:nvSpPr>
        <p:spPr>
          <a:xfrm>
            <a:off x="508488" y="1113688"/>
            <a:ext cx="10910100" cy="50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[1] Prussing, J. E., and Conway, B. A., </a:t>
            </a:r>
            <a:r>
              <a:rPr i="1" lang="en-US" sz="1800">
                <a:latin typeface="Arial"/>
                <a:ea typeface="Arial"/>
                <a:cs typeface="Arial"/>
                <a:sym typeface="Arial"/>
              </a:rPr>
              <a:t>Orbital Mechanics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, Oxford University Press, New York, 1993.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[2] Lavretsky, E., and Wise, K. A., </a:t>
            </a:r>
            <a:r>
              <a:rPr i="1" lang="en-US" sz="1800">
                <a:latin typeface="Arial"/>
                <a:ea typeface="Arial"/>
                <a:cs typeface="Arial"/>
                <a:sym typeface="Arial"/>
              </a:rPr>
              <a:t>Robust and Adaptive Control: With Aerospace Applications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, Springer-Verlag, London, 2012.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[3] Zucchelli, E. M., Wu, D., Briden, J., Hofmann, C., Rodriguez-Fernandez, V., and Linares, R., "Fine-Tuned Language Models as Space Systems Controllers," </a:t>
            </a:r>
            <a:r>
              <a:rPr i="1" lang="en-US" sz="1800">
                <a:latin typeface="Arial"/>
                <a:ea typeface="Arial"/>
                <a:cs typeface="Arial"/>
                <a:sym typeface="Arial"/>
              </a:rPr>
              <a:t>arXiv preprint arXiv:2501.16588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, 2025.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[4] Meta AI, "Llama 3.1 8B Instruct," 2024, URL:</a:t>
            </a:r>
            <a:r>
              <a:rPr lang="en-US" sz="180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4"/>
              </a:rPr>
              <a:t> </a:t>
            </a:r>
            <a:r>
              <a:rPr lang="en-US" sz="1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https://huggingface.co/meta-llama/Llama-3.1-8B-Instruct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[accessed 25 Aug. 2026].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[5] Hugging Face, "TRL: Transformer Reinforcement Learning Library and SFTTrainer Documentation," 2024, URL:</a:t>
            </a:r>
            <a:r>
              <a:rPr lang="en-US" sz="180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6"/>
              </a:rPr>
              <a:t> </a:t>
            </a:r>
            <a:r>
              <a:rPr lang="en-US" sz="1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https://huggingface.co/docs/trl/sft_trainer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[accessed 25 Aug. 2026].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[6] National Center for Supercomputing Applications, "Delta Advanced Computing and Data Resource," 2022, URL:</a:t>
            </a:r>
            <a:r>
              <a:rPr lang="en-US" sz="180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8"/>
              </a:rPr>
              <a:t> </a:t>
            </a:r>
            <a:r>
              <a:rPr lang="en-US" sz="1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9"/>
              </a:rPr>
              <a:t>https://delta.ncsa.illinois.edu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[7] Advanced Cyberinfrastructure Coordination Ecosystem: Services and Support, "ACCESS Advanced Computing and Data Resources," 2024, URL:</a:t>
            </a:r>
            <a:r>
              <a:rPr lang="en-US" sz="180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10"/>
              </a:rPr>
              <a:t> </a:t>
            </a:r>
            <a:r>
              <a:rPr lang="en-US" sz="1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11"/>
              </a:rPr>
              <a:t>https://access-ci.org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.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